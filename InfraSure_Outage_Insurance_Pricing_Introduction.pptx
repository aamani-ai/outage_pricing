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417320"/>
            <a:ext cx="4023360" cy="4023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371600"/>
            <a:ext cx="603504" cy="60350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51" y="1528511"/>
            <a:ext cx="289682" cy="2896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48640" y="2697480"/>
            <a:ext cx="8778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Power-Outage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Insurance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548640" y="4526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introduction to our outage pricing engine — the data it stands on, the methodology behind every quote, and the roadmap ahead.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4864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A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June 2026   ·   Introductory overview for partners, carriers, and collaborators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WHY OUTAGE INSURANCE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common business risk traditional cover misses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623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Outages are an operational fact of life.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Storms, equipment failures, and grid stress interrupt power to businesses every week — spoiled inventory, lost sales, idle staff, halted production.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054096"/>
            <a:ext cx="5623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cover responds poorly.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Business-interruption insurance typically requires physical damage at the insured premises and a slow, adjusted claims process. A grid outage alone is often simply not covered.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626864"/>
            <a:ext cx="5623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Parametric flips the model.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trigger is defined upfront, the payout is fixed upfront, and the claim pays when an objective data source confirms the event — no loss adjustment, no proof-of-loss negotiation.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37960" y="1481328"/>
            <a:ext cx="5102352" cy="13716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8" name="Shape 6"/>
          <p:cNvSpPr/>
          <p:nvPr/>
        </p:nvSpPr>
        <p:spPr>
          <a:xfrm>
            <a:off x="6537960" y="1481328"/>
            <a:ext cx="64008" cy="137160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$21–24B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12280" y="21031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estimated global parametric insurance market in 2026, growing ~13% a year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37960" y="3054096"/>
            <a:ext cx="5102352" cy="13716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3054096"/>
            <a:ext cx="64008" cy="137160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32186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12280" y="367588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named US carrier-platform writing parametric outage cover today — the segment is early and open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37960" y="4626864"/>
            <a:ext cx="5102352" cy="13716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4626864"/>
            <a:ext cx="64008" cy="137160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47914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Days, not months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812280" y="524865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parametric products in adjacent verticals have paid claims within two weeks of the event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61996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figures from public industry coverage, 2026.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Insurance Pricing — Introduction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THE PRODUCT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whole contract fits in one sentence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" y="1481328"/>
            <a:ext cx="10177272" cy="1298448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81328"/>
            <a:ext cx="94457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“If the power outage at the insured location lasts 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 hours or more</a:t>
            </a:r>
            <a:pPr algn="ctr" indent="0" marL="0">
              <a:buNone/>
            </a:pPr>
            <a:r>
              <a:rPr lang="en-US" sz="190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the policy pays 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$X</a:t>
            </a:r>
            <a:pPr algn="ctr" indent="0" marL="0">
              <a:buNone/>
            </a:pPr>
            <a:r>
              <a:rPr lang="en-US" sz="190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3154680"/>
            <a:ext cx="3273552" cy="224028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3154680"/>
            <a:ext cx="64008" cy="224028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3429000"/>
            <a:ext cx="475488" cy="475488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787" y="3552627"/>
            <a:ext cx="228234" cy="2282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406908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 duration — 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80160" y="4434840"/>
            <a:ext cx="2724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Acts like a deductible. Short interruptions don't trigger; the longer the threshold, the cheaper the policy.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62272" y="3154680"/>
            <a:ext cx="3273552" cy="224028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62272" y="3154680"/>
            <a:ext cx="64008" cy="224028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4" name="Shape 11"/>
          <p:cNvSpPr/>
          <p:nvPr/>
        </p:nvSpPr>
        <p:spPr>
          <a:xfrm>
            <a:off x="4736592" y="3429000"/>
            <a:ext cx="475488" cy="475488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219" y="3552627"/>
            <a:ext cx="228234" cy="22823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36592" y="406908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Fixed payout — $X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36592" y="4434840"/>
            <a:ext cx="2724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predefined amount per qualifying event. No invoices, no adjusters, no negotiation after the fact.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918704" y="3154680"/>
            <a:ext cx="3273552" cy="224028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9" name="Shape 15"/>
          <p:cNvSpPr/>
          <p:nvPr/>
        </p:nvSpPr>
        <p:spPr>
          <a:xfrm>
            <a:off x="7918704" y="3154680"/>
            <a:ext cx="64008" cy="224028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20" name="Shape 16"/>
          <p:cNvSpPr/>
          <p:nvPr/>
        </p:nvSpPr>
        <p:spPr>
          <a:xfrm>
            <a:off x="8193024" y="3429000"/>
            <a:ext cx="475488" cy="475488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651" y="3552627"/>
            <a:ext cx="228234" cy="22823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93024" y="406908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Annual premium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193024" y="4434840"/>
            <a:ext cx="2724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county is quoted across a menu of (T, X) combinations, so a buyer picks the protection level that fits.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005840" y="571500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Payouts verify against an objective outage record — the policyholder never files a proof of loss.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Insurance Pricing — Introduction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THE DATA FOUNDATION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on the only national, multi-year US outage record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806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EAGLE-I (Oak Ridge National Laboratory).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County-level counts of customers without power, captured every 15 minutes across ~3,090 US counties, 2014–2025. The only public record of its kind.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2688336"/>
            <a:ext cx="5806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turn snapshots into events.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readings are stitched into a documented event catalog — when each outage started, how long it lasted, how many customers it reached.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3895344"/>
            <a:ext cx="5806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Sensitivity is exposed, not hidden.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parallel catalogs under different stitching rules (30 / 45 / 60-minute gap-merge) show exactly how premiums move with the event definition.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5102352"/>
            <a:ext cx="5806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assumption is on the record.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modeling choice carries a stable ID in a public assumptions registry, with its resolution path — auditable end to end.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20840" y="1481328"/>
            <a:ext cx="4919472" cy="932688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1481328"/>
            <a:ext cx="64008" cy="932688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62763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98080" y="16184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15-minute county snapshots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1965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out, every county, 12 years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006840" y="2414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2697480"/>
            <a:ext cx="4919472" cy="932688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2697480"/>
            <a:ext cx="64008" cy="932688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28437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498080" y="2834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Documented event catalog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31821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start, duration, customers reached — explicit stitching rules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06840" y="3630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3913632"/>
            <a:ext cx="4919472" cy="932688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3913632"/>
            <a:ext cx="64008" cy="932688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405993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98080" y="40507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Empirical county rates &amp; duration curves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43982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often events of each length occur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00684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5129784"/>
            <a:ext cx="4919472" cy="932688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6720840" y="5129784"/>
            <a:ext cx="64008" cy="932688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527608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498080" y="5266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Modelability tiers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0" y="56144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quote · flagged quote · no-quote, by data credibility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Insurance Pricing — Introduction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THE PRICING ENGINE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historical events to a quoted premium — in three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75304" cy="26060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81328"/>
            <a:ext cx="64008" cy="260604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frequency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λ(T) = events per year × share lasting ≥ 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090672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often does this county experience an outage long enough to trigger? Purely empirical — counted from twelve years of events, not fitted to a curve.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06824" y="1481328"/>
            <a:ext cx="3575304" cy="26060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4306824" y="1481328"/>
            <a:ext cx="64008" cy="260604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81144" y="2212848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Pure premium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81144" y="25603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Pure = λ(T) × $X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81144" y="3090672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expected annual payout: frequency of qualifying events times the fixed payout per event.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65008" y="1481328"/>
            <a:ext cx="3575304" cy="26060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065008" y="1481328"/>
            <a:ext cx="64008" cy="260604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39328" y="2212848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Retail premium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9328" y="25603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Retail = (Pure + load) ÷ (1 − expenses − margin)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39328" y="3090672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Grossed up with an uncertainty load slot and standard expense and margin factors to a quotable annual price.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11091672" cy="141732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434840"/>
            <a:ext cx="64008" cy="141732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4736592"/>
            <a:ext cx="548640" cy="548640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4879238"/>
            <a:ext cx="263347" cy="263347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645920" y="4617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Evidence-linked pricing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645920" y="4956048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quoted premium traces back to the specific historical outage events behind it. A carrier, reinsurer, or regulator can open any number on the rate card and see the evidence underneath — no opaque vendor model in the loop.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Insurance Pricing — Introduction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BASIS-RISK ADJUSTMENTS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what the contract actually sells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county outage event is not the same thing as a customer's outage.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county “event” registers even when only a fraction of its customers are out. Closing the gap between what the data measures and what the policy promises comes before any forward-looking modeling.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13248" cy="35204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23160"/>
            <a:ext cx="64008" cy="352044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2715768"/>
            <a:ext cx="512064" cy="51206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385" y="2848905"/>
            <a:ext cx="245791" cy="24579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61688" y="281635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10" name="Text 7"/>
          <p:cNvSpPr/>
          <p:nvPr/>
        </p:nvSpPr>
        <p:spPr>
          <a:xfrm>
            <a:off x="4361688" y="28163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SHIPPED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41248" y="340156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basis risk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41248" y="3822192"/>
            <a:ext cx="4828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county event rate is scaled by the expected share of county customers actually without power during qualifying events — so the headline price reflects a customer's experience, not the county's.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41248" y="4956048"/>
            <a:ext cx="4828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adjustment moved per-customer premiums from implausible to commercially sensible levels, and it is live as the headline price today.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27064" y="2423160"/>
            <a:ext cx="5413248" cy="35204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227064" y="2423160"/>
            <a:ext cx="64008" cy="352044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6" name="Shape 13"/>
          <p:cNvSpPr/>
          <p:nvPr/>
        </p:nvSpPr>
        <p:spPr>
          <a:xfrm>
            <a:off x="6519672" y="2715768"/>
            <a:ext cx="512064" cy="512064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809" y="2848905"/>
            <a:ext cx="245791" cy="24579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0040112" y="281635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19" name="Text 15"/>
          <p:cNvSpPr/>
          <p:nvPr/>
        </p:nvSpPr>
        <p:spPr>
          <a:xfrm>
            <a:off x="10040112" y="28163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RESEARCH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6519672" y="340156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basis risk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519672" y="3822192"/>
            <a:ext cx="4828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customers in the same county can face very different outage risk — feeder, urban vs rural grid, tree exposure, local infrastructure. The county average is still too coarse.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519672" y="4956048"/>
            <a:ext cx="4828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Premise-aware rates are the long-term answer. Data-source discovery for sub-county outage signals is underway.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Insurance Pricing — Introduction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TRIGGER SOURCE ALIGNMENT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data and payout data are different jobs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price from the long historical archive; a live product pays out against a contracted trigger source.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Aligning the two event definitions is a diligence and integration workstream — research is done, options are identified, and the evaluation is in progress.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11091672" cy="713232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21408"/>
            <a:ext cx="64008" cy="713232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21408"/>
            <a:ext cx="10543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payout-grade trigger is more than a notification feed.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must offer verifiable event and duration definitions, audit-grade records, coverage and uptime commitments, and a fallback path.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5413248" cy="256032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035808"/>
            <a:ext cx="64008" cy="256032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291840"/>
            <a:ext cx="475488" cy="475488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587" y="3415467"/>
            <a:ext cx="228234" cy="22823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3273552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Aggregated utility outage data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463040" y="3593592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e.g. PowerOutage.US-style feeds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22960" y="4005072"/>
            <a:ext cx="4864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from the utilities' own outage-management systems — and utility or state OMS records can independently validate event durations, not just notify that something happened.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4901184"/>
            <a:ext cx="4864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diligence: exactly how the source defines an “event” and counts its duration, so the paid event matches the priced event.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27064" y="3035808"/>
            <a:ext cx="5413248" cy="256032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7" name="Shape 14"/>
          <p:cNvSpPr/>
          <p:nvPr/>
        </p:nvSpPr>
        <p:spPr>
          <a:xfrm>
            <a:off x="6227064" y="3035808"/>
            <a:ext cx="64008" cy="256032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8" name="Shape 15"/>
          <p:cNvSpPr/>
          <p:nvPr/>
        </p:nvSpPr>
        <p:spPr>
          <a:xfrm>
            <a:off x="6501384" y="3291840"/>
            <a:ext cx="475488" cy="475488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011" y="3415467"/>
            <a:ext cx="228234" cy="22823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41464" y="3273552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Independent sensor networks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141464" y="3593592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e.g. Whisker Labs Ting-style networks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501384" y="4005072"/>
            <a:ext cx="4864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Premise-level detection that doesn't depend on utility reporting — sub-county granularity with sub-minute outage and restoration timestamps.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501384" y="4901184"/>
            <a:ext cx="4864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Reliability can be strengthened further by fusing the sensor signal with our own event-construction logic.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48640" y="5815584"/>
            <a:ext cx="3794760" cy="274320"/>
          </a:xfrm>
          <a:prstGeom prst="roundRect">
            <a:avLst>
              <a:gd name="adj" fmla="val 50000"/>
            </a:avLst>
          </a:prstGeom>
          <a:solidFill>
            <a:srgbClr val="E3EBF3"/>
          </a:solidFill>
          <a:ln/>
        </p:spPr>
      </p:sp>
      <p:sp>
        <p:nvSpPr>
          <p:cNvPr id="25" name="Text 21"/>
          <p:cNvSpPr/>
          <p:nvPr/>
        </p:nvSpPr>
        <p:spPr>
          <a:xfrm>
            <a:off x="548640" y="58155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2C4A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IDENTIFIED · EVALUATION IN PROGRESS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572000" y="5788152"/>
            <a:ext cx="7068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Once a source is contracted, an alignment factor calibrated on overlap data bridges the priced rate to the paid trigger — measured, never guessed.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Insurance Pricing — Introduction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· FORWARD-LOOKING LAYER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Calibrating the future, not just measuring the past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 tells us what the grid has done. A forward-looking layer adjusts for what it is likely to do — where conditions are changing faster than the historical average implies.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75304" cy="30632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64008" cy="306324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31720"/>
            <a:ext cx="475488" cy="475488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587" y="2455347"/>
            <a:ext cx="228234" cy="22823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66544" y="242316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10" name="Text 7"/>
          <p:cNvSpPr/>
          <p:nvPr/>
        </p:nvSpPr>
        <p:spPr>
          <a:xfrm>
            <a:off x="2066544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· DESCRIPTIVE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22960" y="299923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Outage trend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383280"/>
            <a:ext cx="30266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11-year per-county trend classifies counties as worsening, stable, or improving — with a statistical noise gate. Surfaced on the dashboard today as context, deliberately kept out of pricing until validated.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06824" y="2057400"/>
            <a:ext cx="3575304" cy="30632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306824" y="2057400"/>
            <a:ext cx="64008" cy="306324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5" name="Shape 12"/>
          <p:cNvSpPr/>
          <p:nvPr/>
        </p:nvSpPr>
        <p:spPr>
          <a:xfrm>
            <a:off x="4581144" y="2331720"/>
            <a:ext cx="475488" cy="475488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771" y="2455347"/>
            <a:ext cx="228234" cy="22823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824728" y="242316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18" name="Text 14"/>
          <p:cNvSpPr/>
          <p:nvPr/>
        </p:nvSpPr>
        <p:spPr>
          <a:xfrm>
            <a:off x="5824728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PLANNED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581144" y="299923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 condition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81144" y="3383280"/>
            <a:ext cx="30266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Utility reliability history, modernization indicators such as smart-meter penetration, investment proxies, and ownership mix — does this grid look stronger or weaker than its history alone implies?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65008" y="2057400"/>
            <a:ext cx="3575304" cy="306324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22" name="Shape 18"/>
          <p:cNvSpPr/>
          <p:nvPr/>
        </p:nvSpPr>
        <p:spPr>
          <a:xfrm>
            <a:off x="8065008" y="2057400"/>
            <a:ext cx="64008" cy="306324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23" name="Shape 19"/>
          <p:cNvSpPr/>
          <p:nvPr/>
        </p:nvSpPr>
        <p:spPr>
          <a:xfrm>
            <a:off x="8339328" y="2331720"/>
            <a:ext cx="475488" cy="475488"/>
          </a:xfrm>
          <a:prstGeom prst="ellipse">
            <a:avLst/>
          </a:prstGeom>
          <a:solidFill>
            <a:srgbClr val="0E9F9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955" y="2455347"/>
            <a:ext cx="228234" cy="22823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582912" y="242316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26" name="Text 21"/>
          <p:cNvSpPr/>
          <p:nvPr/>
        </p:nvSpPr>
        <p:spPr>
          <a:xfrm>
            <a:off x="9582912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PLANNED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8339328" y="2999232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Hazard &amp; weather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8339328" y="3383280"/>
            <a:ext cx="30266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Storm climatology by peril — wind, winter storms, heat, wildfire, hurricanes — seasonal concentration and disaster history, for counties whose hazard profile is shifting.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discipline: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forward-looking signals enter the pricing math only after external validation against held-out or forecast evidence. Until then they inform, but never price.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Insurance Pricing — Introduction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· HOW THE WORK SEQUENCES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the data layer first — then model on top of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87752" cy="22860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64008" cy="228600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933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10512" y="207568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8" name="Text 6"/>
          <p:cNvSpPr/>
          <p:nvPr/>
        </p:nvSpPr>
        <p:spPr>
          <a:xfrm>
            <a:off x="1810512" y="2075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Empirical baseline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County-level rates from twelve years of events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99816" y="27432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1828800"/>
            <a:ext cx="2587752" cy="22860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1828800"/>
            <a:ext cx="64008" cy="228600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9933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45152" y="207568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DCF0EE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2075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B6E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FLIGHT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11880" y="2606040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Basis-risk adjustments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11880" y="32461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view shipped · location view in research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34456" y="27432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2587752" cy="22860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828800"/>
            <a:ext cx="64008" cy="228600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9933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479792" y="207568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3EBF3"/>
          </a:solidFill>
          <a:ln/>
        </p:spPr>
      </p:sp>
      <p:sp>
        <p:nvSpPr>
          <p:cNvPr id="24" name="Text 22"/>
          <p:cNvSpPr/>
          <p:nvPr/>
        </p:nvSpPr>
        <p:spPr>
          <a:xfrm>
            <a:off x="7479792" y="2075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2C4A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46520" y="2606040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 alignment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32461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payout source — options under evaluation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69096" y="27432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52560" y="1828800"/>
            <a:ext cx="2587752" cy="22860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9052560" y="1828800"/>
            <a:ext cx="64008" cy="228600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30" name="Text 28"/>
          <p:cNvSpPr/>
          <p:nvPr/>
        </p:nvSpPr>
        <p:spPr>
          <a:xfrm>
            <a:off x="9281160" y="19933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0314432" y="207568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6EBD2"/>
          </a:solidFill>
          <a:ln/>
        </p:spPr>
      </p:sp>
      <p:sp>
        <p:nvSpPr>
          <p:cNvPr id="32" name="Text 30"/>
          <p:cNvSpPr/>
          <p:nvPr/>
        </p:nvSpPr>
        <p:spPr>
          <a:xfrm>
            <a:off x="10314432" y="2075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9A6B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281160" y="2606040"/>
            <a:ext cx="2130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Forward-regime layer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81160" y="32461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live (descriptive) · grid &amp; hazard planned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11091672" cy="1325880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572000"/>
            <a:ext cx="64008" cy="132588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" y="4572000"/>
            <a:ext cx="105064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6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order is structural, not stylistic.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4E60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the data grain doesn't match what the contract sells, no amount of forward modeling can compensate — a perfect climate or grid model layered on a misaligned baseline just adds signal to the wrong starting point. Each layer makes the next one meaningful.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Outage Insurance Pricing — Introduction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295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· WHERE WE SIT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Complementary to every named player.</a:t>
            </a:r>
            <a:endParaRPr lang="en-US" sz="2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to none.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75304" cy="178308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48840"/>
            <a:ext cx="64008" cy="178308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Adaptive / GridProtect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CARRIER-PLATFORM (MGA)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2980944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Distributes parametric outage cover to businesses through brokers, on carrier paper.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06824" y="2148840"/>
            <a:ext cx="3575304" cy="178308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0" name="Shape 8"/>
          <p:cNvSpPr/>
          <p:nvPr/>
        </p:nvSpPr>
        <p:spPr>
          <a:xfrm>
            <a:off x="4306824" y="2148840"/>
            <a:ext cx="64008" cy="178308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33172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Whisker Labs · 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81144" y="267004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 TRIGGER NETWORK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81144" y="2980944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Nationwide in-home sensor network — the segment's reference live outage-detection layer.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65008" y="2148840"/>
            <a:ext cx="3575304" cy="1783080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65008" y="2148840"/>
            <a:ext cx="64008" cy="1783080"/>
          </a:xfrm>
          <a:prstGeom prst="rect">
            <a:avLst/>
          </a:prstGeom>
          <a:solidFill>
            <a:srgbClr val="0E9F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33172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PowerOutage.US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39328" y="267004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E9F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OUTAGE DATA VENDOR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39328" y="2980944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Aggregates utility outage maps into live and historical feeds, licensed commercially.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are the pricing layer underneath all three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 methodology-transparent national baseline that any carrier can quote against, any trigger network can pay against, and any reinsurer can benchmark against.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11091672" cy="0"/>
          </a:xfrm>
          <a:prstGeom prst="line">
            <a:avLst/>
          </a:prstGeom>
          <a:noFill/>
          <a:ln w="12700">
            <a:solidFill>
              <a:srgbClr val="2A4A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InfraSure  ·  June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53912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B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Divy  ·  divy@aamani.ai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InfraSure — Outage Insurance Pricing: An Introduction</dc:title>
  <dc:subject>PptxGenJS Presentation</dc:subject>
  <dc:creator>InfraSure</dc:creator>
  <cp:lastModifiedBy>InfraSure</cp:lastModifiedBy>
  <cp:revision>1</cp:revision>
  <dcterms:created xsi:type="dcterms:W3CDTF">2026-06-11T01:08:34Z</dcterms:created>
  <dcterms:modified xsi:type="dcterms:W3CDTF">2026-06-11T01:08:34Z</dcterms:modified>
</cp:coreProperties>
</file>