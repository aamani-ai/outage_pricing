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hyperlink" Target="https://outage-pricing-wsd6lcl64q-uc.a.run.app/dashboard/" TargetMode="External"/><Relationship Id="rId6" Type="http://schemas.openxmlformats.org/officeDocument/2006/relationships/hyperlink" Target="https://outage-pricing-wsd6lcl64q-uc.a.run.app/dashboard/" TargetMode="External"/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371600"/>
            <a:ext cx="4206240" cy="4206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66928" y="1325880"/>
            <a:ext cx="603504" cy="603504"/>
          </a:xfrm>
          <a:prstGeom prst="ellipse">
            <a:avLst/>
          </a:prstGeom>
          <a:solidFill>
            <a:srgbClr val="0E9F9A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839" y="1482791"/>
            <a:ext cx="289682" cy="28968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66928" y="2194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E9F9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INFRASURE  ·  OUTAGE INSURANCE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566928" y="2606040"/>
            <a:ext cx="8595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3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We Price</a:t>
            </a:r>
            <a:endParaRPr lang="en-US" sz="39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3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Outage Insurance</a:t>
            </a:r>
            <a:endParaRPr lang="en-US" sz="3900" dirty="0"/>
          </a:p>
        </p:txBody>
      </p:sp>
      <p:sp>
        <p:nvSpPr>
          <p:cNvPr id="7" name="Text 3"/>
          <p:cNvSpPr/>
          <p:nvPr/>
        </p:nvSpPr>
        <p:spPr>
          <a:xfrm>
            <a:off x="566928" y="443484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9DB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end-to-end methodology behind the premium matrix — from the historical baseline, through the basis-risk and forward-looking adjustment layers, to the live trigger.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566928" y="5806440"/>
            <a:ext cx="2743200" cy="274320"/>
          </a:xfrm>
          <a:prstGeom prst="roundRect">
            <a:avLst>
              <a:gd name="adj" fmla="val 50000"/>
            </a:avLst>
          </a:prstGeom>
          <a:solidFill>
            <a:srgbClr val="1A3A52"/>
          </a:solidFill>
          <a:ln/>
        </p:spPr>
      </p:sp>
      <p:sp>
        <p:nvSpPr>
          <p:cNvPr id="9" name="Text 5"/>
          <p:cNvSpPr/>
          <p:nvPr/>
        </p:nvSpPr>
        <p:spPr>
          <a:xfrm>
            <a:off x="566928" y="5806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C9DB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INTERNAL · FOR ADVISOR REVIEW</a:t>
            </a:r>
            <a:endParaRPr lang="en-US" sz="750" dirty="0"/>
          </a:p>
        </p:txBody>
      </p:sp>
      <p:sp>
        <p:nvSpPr>
          <p:cNvPr id="10" name="Text 6"/>
          <p:cNvSpPr/>
          <p:nvPr/>
        </p:nvSpPr>
        <p:spPr>
          <a:xfrm>
            <a:off x="3493008" y="5806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96A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June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E9F9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GOAL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5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328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Everything serves one output: a premium matrix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572768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4E60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 each county we produce an annual premium for every </a:t>
            </a:r>
            <a:pPr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1328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(T, X)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4E60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cell — trigger duration </a:t>
            </a:r>
            <a:pPr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1328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4E60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and fixed payout </a:t>
            </a:r>
            <a:pPr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1328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X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4E60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Five durations × five payouts = 25 quotable cells. Every layer in this deck exists to make these numbers defensible.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66928" y="3246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6E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Durations (T)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395728" y="32461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328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 · 4 · 8 · 12 · 24 hours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66928" y="3657600"/>
            <a:ext cx="4937760" cy="0"/>
          </a:xfrm>
          <a:prstGeom prst="line">
            <a:avLst/>
          </a:prstGeom>
          <a:noFill/>
          <a:ln w="12700">
            <a:solidFill>
              <a:srgbClr val="D8E2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3703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6E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Payouts (X)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395728" y="37033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328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$500 · $1k · $2.5k · $5k · $10k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66928" y="4114800"/>
            <a:ext cx="4937760" cy="0"/>
          </a:xfrm>
          <a:prstGeom prst="line">
            <a:avLst/>
          </a:prstGeom>
          <a:noFill/>
          <a:ln w="12700">
            <a:solidFill>
              <a:srgbClr val="D8E2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4160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6E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Unit priced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395728" y="41605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328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one insured location, one year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66928" y="480060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8295A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Illustrative per-customer annual premium ($/yr) for one county — values shrink as the trigger T lengthens and grow with the payout X.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858000" y="138074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E60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Trigger duration  T  →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858000" y="1691640"/>
            <a:ext cx="841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28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2h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699248" y="1691640"/>
            <a:ext cx="841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28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4h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540496" y="1691640"/>
            <a:ext cx="841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28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8h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381744" y="1691640"/>
            <a:ext cx="841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28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12h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222992" y="1691640"/>
            <a:ext cx="841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28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24h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 rot="16200000">
            <a:off x="5349240" y="378561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E60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Payout  X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309360" y="2103120"/>
            <a:ext cx="548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328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$10k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885432" y="2130552"/>
            <a:ext cx="786384" cy="786384"/>
          </a:xfrm>
          <a:prstGeom prst="rect">
            <a:avLst/>
          </a:prstGeom>
          <a:solidFill>
            <a:srgbClr val="0E9F9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0" y="2103120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$450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726680" y="2130552"/>
            <a:ext cx="786384" cy="786384"/>
          </a:xfrm>
          <a:prstGeom prst="rect">
            <a:avLst/>
          </a:prstGeom>
          <a:solidFill>
            <a:srgbClr val="3CB0A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99248" y="2103120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$280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567928" y="2130552"/>
            <a:ext cx="786384" cy="786384"/>
          </a:xfrm>
          <a:prstGeom prst="rect">
            <a:avLst/>
          </a:prstGeom>
          <a:solidFill>
            <a:srgbClr val="6FC3C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40496" y="2103120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$140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9409176" y="2130552"/>
            <a:ext cx="786384" cy="786384"/>
          </a:xfrm>
          <a:prstGeom prst="rect">
            <a:avLst/>
          </a:prstGeom>
          <a:solidFill>
            <a:srgbClr val="8DCEC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381744" y="2103120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328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$80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10250424" y="2130552"/>
            <a:ext cx="786384" cy="786384"/>
          </a:xfrm>
          <a:prstGeom prst="rect">
            <a:avLst/>
          </a:prstGeom>
          <a:solidFill>
            <a:srgbClr val="B0DBD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222992" y="2103120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328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$30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309360" y="2944368"/>
            <a:ext cx="548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328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$5k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885432" y="2971800"/>
            <a:ext cx="786384" cy="786384"/>
          </a:xfrm>
          <a:prstGeom prst="rect">
            <a:avLst/>
          </a:prstGeom>
          <a:solidFill>
            <a:srgbClr val="4EB7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58000" y="2944368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$225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7726680" y="2971800"/>
            <a:ext cx="786384" cy="786384"/>
          </a:xfrm>
          <a:prstGeom prst="rect">
            <a:avLst/>
          </a:prstGeom>
          <a:solidFill>
            <a:srgbClr val="6FC3C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99248" y="2944368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$140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8567928" y="2971800"/>
            <a:ext cx="786384" cy="786384"/>
          </a:xfrm>
          <a:prstGeom prst="rect">
            <a:avLst/>
          </a:prstGeom>
          <a:solidFill>
            <a:srgbClr val="93D0D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540496" y="2944368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328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$70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9409176" y="2971800"/>
            <a:ext cx="786384" cy="786384"/>
          </a:xfrm>
          <a:prstGeom prst="rect">
            <a:avLst/>
          </a:prstGeom>
          <a:solidFill>
            <a:srgbClr val="A8D8D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381744" y="2944368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328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$40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10250424" y="2971800"/>
            <a:ext cx="786384" cy="786384"/>
          </a:xfrm>
          <a:prstGeom prst="rect">
            <a:avLst/>
          </a:prstGeom>
          <a:solidFill>
            <a:srgbClr val="C1E1E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222992" y="2944368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328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$15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6309360" y="3785616"/>
            <a:ext cx="548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328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$2.5k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885432" y="3813048"/>
            <a:ext cx="786384" cy="786384"/>
          </a:xfrm>
          <a:prstGeom prst="rect">
            <a:avLst/>
          </a:prstGeom>
          <a:solidFill>
            <a:srgbClr val="7BC7C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58000" y="3785616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328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$113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7726680" y="3813048"/>
            <a:ext cx="786384" cy="786384"/>
          </a:xfrm>
          <a:prstGeom prst="rect">
            <a:avLst/>
          </a:prstGeom>
          <a:solidFill>
            <a:srgbClr val="93D0D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699248" y="3785616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328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$70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8567928" y="3813048"/>
            <a:ext cx="786384" cy="786384"/>
          </a:xfrm>
          <a:prstGeom prst="rect">
            <a:avLst/>
          </a:prstGeom>
          <a:solidFill>
            <a:srgbClr val="ACD9D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540496" y="3785616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328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$35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9409176" y="3813048"/>
            <a:ext cx="786384" cy="786384"/>
          </a:xfrm>
          <a:prstGeom prst="rect">
            <a:avLst/>
          </a:prstGeom>
          <a:solidFill>
            <a:srgbClr val="BBDFE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381744" y="3785616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328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$20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10250424" y="3813048"/>
            <a:ext cx="786384" cy="786384"/>
          </a:xfrm>
          <a:prstGeom prst="rect">
            <a:avLst/>
          </a:prstGeom>
          <a:solidFill>
            <a:srgbClr val="CCE5E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0222992" y="3785616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328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$8</a:t>
            </a:r>
            <a:endParaRPr lang="en-US" sz="1150" dirty="0"/>
          </a:p>
        </p:txBody>
      </p:sp>
      <p:sp>
        <p:nvSpPr>
          <p:cNvPr id="54" name="Text 52"/>
          <p:cNvSpPr/>
          <p:nvPr/>
        </p:nvSpPr>
        <p:spPr>
          <a:xfrm>
            <a:off x="6309360" y="4626864"/>
            <a:ext cx="548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328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$1k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6885432" y="4654296"/>
            <a:ext cx="786384" cy="786384"/>
          </a:xfrm>
          <a:prstGeom prst="rect">
            <a:avLst/>
          </a:prstGeom>
          <a:solidFill>
            <a:srgbClr val="A4D6D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858000" y="4626864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328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$45</a:t>
            </a:r>
            <a:endParaRPr lang="en-US" sz="1150" dirty="0"/>
          </a:p>
        </p:txBody>
      </p:sp>
      <p:sp>
        <p:nvSpPr>
          <p:cNvPr id="57" name="Shape 55"/>
          <p:cNvSpPr/>
          <p:nvPr/>
        </p:nvSpPr>
        <p:spPr>
          <a:xfrm>
            <a:off x="7726680" y="4654296"/>
            <a:ext cx="786384" cy="786384"/>
          </a:xfrm>
          <a:prstGeom prst="rect">
            <a:avLst/>
          </a:prstGeom>
          <a:solidFill>
            <a:srgbClr val="B2DCD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699248" y="4626864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328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$28</a:t>
            </a:r>
            <a:endParaRPr lang="en-US" sz="1150" dirty="0"/>
          </a:p>
        </p:txBody>
      </p:sp>
      <p:sp>
        <p:nvSpPr>
          <p:cNvPr id="59" name="Shape 57"/>
          <p:cNvSpPr/>
          <p:nvPr/>
        </p:nvSpPr>
        <p:spPr>
          <a:xfrm>
            <a:off x="8567928" y="4654296"/>
            <a:ext cx="786384" cy="786384"/>
          </a:xfrm>
          <a:prstGeom prst="rect">
            <a:avLst/>
          </a:prstGeom>
          <a:solidFill>
            <a:srgbClr val="C2E2E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540496" y="4626864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328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$14</a:t>
            </a:r>
            <a:endParaRPr lang="en-US" sz="1150" dirty="0"/>
          </a:p>
        </p:txBody>
      </p:sp>
      <p:sp>
        <p:nvSpPr>
          <p:cNvPr id="61" name="Shape 59"/>
          <p:cNvSpPr/>
          <p:nvPr/>
        </p:nvSpPr>
        <p:spPr>
          <a:xfrm>
            <a:off x="9409176" y="4654296"/>
            <a:ext cx="786384" cy="786384"/>
          </a:xfrm>
          <a:prstGeom prst="rect">
            <a:avLst/>
          </a:prstGeom>
          <a:solidFill>
            <a:srgbClr val="CCE5E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381744" y="4626864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328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$8</a:t>
            </a:r>
            <a:endParaRPr lang="en-US" sz="1150" dirty="0"/>
          </a:p>
        </p:txBody>
      </p:sp>
      <p:sp>
        <p:nvSpPr>
          <p:cNvPr id="63" name="Shape 61"/>
          <p:cNvSpPr/>
          <p:nvPr/>
        </p:nvSpPr>
        <p:spPr>
          <a:xfrm>
            <a:off x="10250424" y="4654296"/>
            <a:ext cx="786384" cy="786384"/>
          </a:xfrm>
          <a:prstGeom prst="rect">
            <a:avLst/>
          </a:prstGeom>
          <a:solidFill>
            <a:srgbClr val="D7E9E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0222992" y="4626864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328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$3</a:t>
            </a:r>
            <a:endParaRPr lang="en-US" sz="1150" dirty="0"/>
          </a:p>
        </p:txBody>
      </p:sp>
      <p:sp>
        <p:nvSpPr>
          <p:cNvPr id="65" name="Text 63"/>
          <p:cNvSpPr/>
          <p:nvPr/>
        </p:nvSpPr>
        <p:spPr>
          <a:xfrm>
            <a:off x="6309360" y="5468112"/>
            <a:ext cx="548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328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$500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6885432" y="5495544"/>
            <a:ext cx="786384" cy="786384"/>
          </a:xfrm>
          <a:prstGeom prst="rect">
            <a:avLst/>
          </a:prstGeom>
          <a:solidFill>
            <a:srgbClr val="B7DEE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858000" y="5468112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328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$23</a:t>
            </a:r>
            <a:endParaRPr lang="en-US" sz="1150" dirty="0"/>
          </a:p>
        </p:txBody>
      </p:sp>
      <p:sp>
        <p:nvSpPr>
          <p:cNvPr id="68" name="Shape 66"/>
          <p:cNvSpPr/>
          <p:nvPr/>
        </p:nvSpPr>
        <p:spPr>
          <a:xfrm>
            <a:off x="7726680" y="5495544"/>
            <a:ext cx="786384" cy="786384"/>
          </a:xfrm>
          <a:prstGeom prst="rect">
            <a:avLst/>
          </a:prstGeom>
          <a:solidFill>
            <a:srgbClr val="C2E2E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699248" y="5468112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328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$14</a:t>
            </a:r>
            <a:endParaRPr lang="en-US" sz="1150" dirty="0"/>
          </a:p>
        </p:txBody>
      </p:sp>
      <p:sp>
        <p:nvSpPr>
          <p:cNvPr id="70" name="Shape 68"/>
          <p:cNvSpPr/>
          <p:nvPr/>
        </p:nvSpPr>
        <p:spPr>
          <a:xfrm>
            <a:off x="8567928" y="5495544"/>
            <a:ext cx="786384" cy="786384"/>
          </a:xfrm>
          <a:prstGeom prst="rect">
            <a:avLst/>
          </a:prstGeom>
          <a:solidFill>
            <a:srgbClr val="CEE6E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8540496" y="5468112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328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$7</a:t>
            </a:r>
            <a:endParaRPr lang="en-US" sz="1150" dirty="0"/>
          </a:p>
        </p:txBody>
      </p:sp>
      <p:sp>
        <p:nvSpPr>
          <p:cNvPr id="72" name="Shape 70"/>
          <p:cNvSpPr/>
          <p:nvPr/>
        </p:nvSpPr>
        <p:spPr>
          <a:xfrm>
            <a:off x="9409176" y="5495544"/>
            <a:ext cx="786384" cy="786384"/>
          </a:xfrm>
          <a:prstGeom prst="rect">
            <a:avLst/>
          </a:prstGeom>
          <a:solidFill>
            <a:srgbClr val="D4E8E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9381744" y="5468112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328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$4</a:t>
            </a:r>
            <a:endParaRPr lang="en-US" sz="1150" dirty="0"/>
          </a:p>
        </p:txBody>
      </p:sp>
      <p:sp>
        <p:nvSpPr>
          <p:cNvPr id="74" name="Shape 72"/>
          <p:cNvSpPr/>
          <p:nvPr/>
        </p:nvSpPr>
        <p:spPr>
          <a:xfrm>
            <a:off x="10250424" y="5495544"/>
            <a:ext cx="786384" cy="786384"/>
          </a:xfrm>
          <a:prstGeom prst="rect">
            <a:avLst/>
          </a:prstGeom>
          <a:solidFill>
            <a:srgbClr val="DAEBE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10222992" y="5468112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328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$2</a:t>
            </a:r>
            <a:endParaRPr lang="en-US" sz="1150" dirty="0"/>
          </a:p>
        </p:txBody>
      </p:sp>
      <p:sp>
        <p:nvSpPr>
          <p:cNvPr id="76" name="Text 74"/>
          <p:cNvSpPr/>
          <p:nvPr/>
        </p:nvSpPr>
        <p:spPr>
          <a:xfrm>
            <a:off x="566928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295A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InfraSure  ·  Outage Pricing Methodology  ·  Internal — for advisor review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11073384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5A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E9F9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METHOD AT A GLANCE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5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328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Four layers, in the order we work them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188720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E60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Each layer is a deliberate, reviewable step. We fix the data-input layer before adding forward-looking signal — a model on top of a misaligned baseline only adds noise to the wrong number.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66928" y="1874520"/>
            <a:ext cx="2592324" cy="3246120"/>
          </a:xfrm>
          <a:prstGeom prst="rect">
            <a:avLst/>
          </a:prstGeom>
          <a:solidFill>
            <a:srgbClr val="F2F6F9"/>
          </a:solidFill>
          <a:ln/>
          <a:effectLst>
            <a:outerShdw sx="100000" sy="100000" kx="0" ky="0" algn="bl" rotWithShape="0" blurRad="88900" dist="25400" dir="8100000">
              <a:srgbClr val="1A3A52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6928" y="1874520"/>
            <a:ext cx="64008" cy="3246120"/>
          </a:xfrm>
          <a:prstGeom prst="rect">
            <a:avLst/>
          </a:prstGeom>
          <a:solidFill>
            <a:srgbClr val="0B6E6A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2139696"/>
            <a:ext cx="512064" cy="512064"/>
          </a:xfrm>
          <a:prstGeom prst="ellipse">
            <a:avLst/>
          </a:prstGeom>
          <a:solidFill>
            <a:srgbClr val="0E9F9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6097" y="2272833"/>
            <a:ext cx="245791" cy="24579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2761488"/>
            <a:ext cx="21351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328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 · Baseline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22960" y="3310128"/>
            <a:ext cx="21351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4E60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County-trigger rate from 12 years of history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822960" y="4315968"/>
            <a:ext cx="21351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0B6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λ_county(T) × payout, loaded</a:t>
            </a:r>
            <a:endParaRPr lang="en-US" sz="870" dirty="0"/>
          </a:p>
        </p:txBody>
      </p:sp>
      <p:sp>
        <p:nvSpPr>
          <p:cNvPr id="12" name="Shape 9"/>
          <p:cNvSpPr/>
          <p:nvPr/>
        </p:nvSpPr>
        <p:spPr>
          <a:xfrm>
            <a:off x="822960" y="4754880"/>
            <a:ext cx="2080260" cy="274320"/>
          </a:xfrm>
          <a:prstGeom prst="roundRect">
            <a:avLst>
              <a:gd name="adj" fmla="val 50000"/>
            </a:avLst>
          </a:prstGeom>
          <a:solidFill>
            <a:srgbClr val="DCF0EE"/>
          </a:solidFill>
          <a:ln/>
        </p:spPr>
      </p:sp>
      <p:sp>
        <p:nvSpPr>
          <p:cNvPr id="13" name="Text 10"/>
          <p:cNvSpPr/>
          <p:nvPr/>
        </p:nvSpPr>
        <p:spPr>
          <a:xfrm>
            <a:off x="822960" y="4754880"/>
            <a:ext cx="20802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0B6E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DONE · ACTIVE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3104388" y="3154680"/>
            <a:ext cx="329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295A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3387852" y="1874520"/>
            <a:ext cx="2592324" cy="3246120"/>
          </a:xfrm>
          <a:prstGeom prst="rect">
            <a:avLst/>
          </a:prstGeom>
          <a:solidFill>
            <a:srgbClr val="F2F6F9"/>
          </a:solidFill>
          <a:ln/>
          <a:effectLst>
            <a:outerShdw sx="100000" sy="100000" kx="0" ky="0" algn="bl" rotWithShape="0" blurRad="88900" dist="25400" dir="8100000">
              <a:srgbClr val="1A3A52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387852" y="1874520"/>
            <a:ext cx="64008" cy="3246120"/>
          </a:xfrm>
          <a:prstGeom prst="rect">
            <a:avLst/>
          </a:prstGeom>
          <a:solidFill>
            <a:srgbClr val="0B6E6A"/>
          </a:solidFill>
          <a:ln/>
        </p:spPr>
      </p:sp>
      <p:sp>
        <p:nvSpPr>
          <p:cNvPr id="17" name="Shape 14"/>
          <p:cNvSpPr/>
          <p:nvPr/>
        </p:nvSpPr>
        <p:spPr>
          <a:xfrm>
            <a:off x="3643884" y="2139696"/>
            <a:ext cx="512064" cy="512064"/>
          </a:xfrm>
          <a:prstGeom prst="ellipse">
            <a:avLst/>
          </a:prstGeom>
          <a:solidFill>
            <a:srgbClr val="0E9F9A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7021" y="2272833"/>
            <a:ext cx="245791" cy="245791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643884" y="2761488"/>
            <a:ext cx="21351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328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· Basis-risk alignment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3643884" y="3310128"/>
            <a:ext cx="21351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4E60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Correct what the data measures toward what the policy sells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3643884" y="4315968"/>
            <a:ext cx="21351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0B6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 basis · location basis</a:t>
            </a:r>
            <a:endParaRPr lang="en-US" sz="870" dirty="0"/>
          </a:p>
        </p:txBody>
      </p:sp>
      <p:sp>
        <p:nvSpPr>
          <p:cNvPr id="22" name="Shape 18"/>
          <p:cNvSpPr/>
          <p:nvPr/>
        </p:nvSpPr>
        <p:spPr>
          <a:xfrm>
            <a:off x="3643884" y="4754880"/>
            <a:ext cx="2080260" cy="274320"/>
          </a:xfrm>
          <a:prstGeom prst="roundRect">
            <a:avLst>
              <a:gd name="adj" fmla="val 50000"/>
            </a:avLst>
          </a:prstGeom>
          <a:solidFill>
            <a:srgbClr val="DCF0EE"/>
          </a:solidFill>
          <a:ln/>
        </p:spPr>
      </p:sp>
      <p:sp>
        <p:nvSpPr>
          <p:cNvPr id="23" name="Text 19"/>
          <p:cNvSpPr/>
          <p:nvPr/>
        </p:nvSpPr>
        <p:spPr>
          <a:xfrm>
            <a:off x="3643884" y="4754880"/>
            <a:ext cx="20802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0B6E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DONE · ACTIVE</a:t>
            </a:r>
            <a:endParaRPr lang="en-US" sz="750" dirty="0"/>
          </a:p>
        </p:txBody>
      </p:sp>
      <p:sp>
        <p:nvSpPr>
          <p:cNvPr id="24" name="Text 20"/>
          <p:cNvSpPr/>
          <p:nvPr/>
        </p:nvSpPr>
        <p:spPr>
          <a:xfrm>
            <a:off x="5925312" y="3154680"/>
            <a:ext cx="329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295A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Shape 21"/>
          <p:cNvSpPr/>
          <p:nvPr/>
        </p:nvSpPr>
        <p:spPr>
          <a:xfrm>
            <a:off x="6208776" y="1874520"/>
            <a:ext cx="2592324" cy="3246120"/>
          </a:xfrm>
          <a:prstGeom prst="rect">
            <a:avLst/>
          </a:prstGeom>
          <a:solidFill>
            <a:srgbClr val="F2F6F9"/>
          </a:solidFill>
          <a:ln/>
          <a:effectLst>
            <a:outerShdw sx="100000" sy="100000" kx="0" ky="0" algn="bl" rotWithShape="0" blurRad="88900" dist="25400" dir="8100000">
              <a:srgbClr val="1A3A52">
                <a:alpha val="10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6208776" y="1874520"/>
            <a:ext cx="64008" cy="3246120"/>
          </a:xfrm>
          <a:prstGeom prst="rect">
            <a:avLst/>
          </a:prstGeom>
          <a:solidFill>
            <a:srgbClr val="9A6B1F"/>
          </a:solidFill>
          <a:ln/>
        </p:spPr>
      </p:sp>
      <p:sp>
        <p:nvSpPr>
          <p:cNvPr id="27" name="Shape 23"/>
          <p:cNvSpPr/>
          <p:nvPr/>
        </p:nvSpPr>
        <p:spPr>
          <a:xfrm>
            <a:off x="6464808" y="2139696"/>
            <a:ext cx="512064" cy="512064"/>
          </a:xfrm>
          <a:prstGeom prst="ellipse">
            <a:avLst/>
          </a:prstGeom>
          <a:solidFill>
            <a:srgbClr val="0E9F9A"/>
          </a:solidFill>
          <a:ln/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7945" y="2272833"/>
            <a:ext cx="245791" cy="245791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6464808" y="2761488"/>
            <a:ext cx="21351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328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 · Forward-looking</a:t>
            </a:r>
            <a:endParaRPr lang="en-US" sz="1400" dirty="0"/>
          </a:p>
        </p:txBody>
      </p:sp>
      <p:sp>
        <p:nvSpPr>
          <p:cNvPr id="30" name="Text 25"/>
          <p:cNvSpPr/>
          <p:nvPr/>
        </p:nvSpPr>
        <p:spPr>
          <a:xfrm>
            <a:off x="6464808" y="3310128"/>
            <a:ext cx="21351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4E60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Adjust the historical mean for trend &amp; regime</a:t>
            </a:r>
            <a:endParaRPr lang="en-US" sz="1050" dirty="0"/>
          </a:p>
        </p:txBody>
      </p:sp>
      <p:sp>
        <p:nvSpPr>
          <p:cNvPr id="31" name="Text 26"/>
          <p:cNvSpPr/>
          <p:nvPr/>
        </p:nvSpPr>
        <p:spPr>
          <a:xfrm>
            <a:off x="6464808" y="4315968"/>
            <a:ext cx="21351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0B6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predictability routing → hazard / grid</a:t>
            </a:r>
            <a:endParaRPr lang="en-US" sz="870" dirty="0"/>
          </a:p>
        </p:txBody>
      </p:sp>
      <p:sp>
        <p:nvSpPr>
          <p:cNvPr id="32" name="Shape 27"/>
          <p:cNvSpPr/>
          <p:nvPr/>
        </p:nvSpPr>
        <p:spPr>
          <a:xfrm>
            <a:off x="6464808" y="4754880"/>
            <a:ext cx="2080260" cy="274320"/>
          </a:xfrm>
          <a:prstGeom prst="roundRect">
            <a:avLst>
              <a:gd name="adj" fmla="val 50000"/>
            </a:avLst>
          </a:prstGeom>
          <a:solidFill>
            <a:srgbClr val="F6EBD2"/>
          </a:solidFill>
          <a:ln/>
        </p:spPr>
      </p:sp>
      <p:sp>
        <p:nvSpPr>
          <p:cNvPr id="33" name="Text 28"/>
          <p:cNvSpPr/>
          <p:nvPr/>
        </p:nvSpPr>
        <p:spPr>
          <a:xfrm>
            <a:off x="6464808" y="4754880"/>
            <a:ext cx="20802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9A6B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UNDER REVIEW</a:t>
            </a:r>
            <a:endParaRPr lang="en-US" sz="750" dirty="0"/>
          </a:p>
        </p:txBody>
      </p:sp>
      <p:sp>
        <p:nvSpPr>
          <p:cNvPr id="34" name="Text 29"/>
          <p:cNvSpPr/>
          <p:nvPr/>
        </p:nvSpPr>
        <p:spPr>
          <a:xfrm>
            <a:off x="8746236" y="3154680"/>
            <a:ext cx="329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295A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1800" dirty="0"/>
          </a:p>
        </p:txBody>
      </p:sp>
      <p:sp>
        <p:nvSpPr>
          <p:cNvPr id="35" name="Shape 30"/>
          <p:cNvSpPr/>
          <p:nvPr/>
        </p:nvSpPr>
        <p:spPr>
          <a:xfrm>
            <a:off x="9029700" y="1874520"/>
            <a:ext cx="2592324" cy="3246120"/>
          </a:xfrm>
          <a:prstGeom prst="rect">
            <a:avLst/>
          </a:prstGeom>
          <a:solidFill>
            <a:srgbClr val="F2F6F9"/>
          </a:solidFill>
          <a:ln/>
          <a:effectLst>
            <a:outerShdw sx="100000" sy="100000" kx="0" ky="0" algn="bl" rotWithShape="0" blurRad="88900" dist="25400" dir="8100000">
              <a:srgbClr val="1A3A52">
                <a:alpha val="10000"/>
              </a:srgbClr>
            </a:outerShdw>
          </a:effectLst>
        </p:spPr>
      </p:sp>
      <p:sp>
        <p:nvSpPr>
          <p:cNvPr id="36" name="Shape 31"/>
          <p:cNvSpPr/>
          <p:nvPr/>
        </p:nvSpPr>
        <p:spPr>
          <a:xfrm>
            <a:off x="9029700" y="1874520"/>
            <a:ext cx="64008" cy="3246120"/>
          </a:xfrm>
          <a:prstGeom prst="rect">
            <a:avLst/>
          </a:prstGeom>
          <a:solidFill>
            <a:srgbClr val="2C4A68"/>
          </a:solidFill>
          <a:ln/>
        </p:spPr>
      </p:sp>
      <p:sp>
        <p:nvSpPr>
          <p:cNvPr id="37" name="Shape 32"/>
          <p:cNvSpPr/>
          <p:nvPr/>
        </p:nvSpPr>
        <p:spPr>
          <a:xfrm>
            <a:off x="9285732" y="2139696"/>
            <a:ext cx="512064" cy="512064"/>
          </a:xfrm>
          <a:prstGeom prst="ellipse">
            <a:avLst/>
          </a:prstGeom>
          <a:solidFill>
            <a:srgbClr val="0E9F9A"/>
          </a:solidFill>
          <a:ln/>
        </p:spPr>
      </p:sp>
      <p:pic>
        <p:nvPicPr>
          <p:cNvPr id="3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869" y="2272833"/>
            <a:ext cx="245791" cy="245791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9285732" y="2761488"/>
            <a:ext cx="21351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328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· Trigger source</a:t>
            </a:r>
            <a:endParaRPr lang="en-US" sz="1400" dirty="0"/>
          </a:p>
        </p:txBody>
      </p:sp>
      <p:sp>
        <p:nvSpPr>
          <p:cNvPr id="40" name="Text 34"/>
          <p:cNvSpPr/>
          <p:nvPr/>
        </p:nvSpPr>
        <p:spPr>
          <a:xfrm>
            <a:off x="9285732" y="3310128"/>
            <a:ext cx="21351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4E60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live signal that fires a payout</a:t>
            </a:r>
            <a:endParaRPr lang="en-US" sz="1050" dirty="0"/>
          </a:p>
        </p:txBody>
      </p:sp>
      <p:sp>
        <p:nvSpPr>
          <p:cNvPr id="41" name="Text 35"/>
          <p:cNvSpPr/>
          <p:nvPr/>
        </p:nvSpPr>
        <p:spPr>
          <a:xfrm>
            <a:off x="9285732" y="4315968"/>
            <a:ext cx="21351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0B6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sensor · AMI · utility · consensus</a:t>
            </a:r>
            <a:endParaRPr lang="en-US" sz="870" dirty="0"/>
          </a:p>
        </p:txBody>
      </p:sp>
      <p:sp>
        <p:nvSpPr>
          <p:cNvPr id="42" name="Shape 36"/>
          <p:cNvSpPr/>
          <p:nvPr/>
        </p:nvSpPr>
        <p:spPr>
          <a:xfrm>
            <a:off x="9285732" y="4754880"/>
            <a:ext cx="2080260" cy="274320"/>
          </a:xfrm>
          <a:prstGeom prst="roundRect">
            <a:avLst>
              <a:gd name="adj" fmla="val 50000"/>
            </a:avLst>
          </a:prstGeom>
          <a:solidFill>
            <a:srgbClr val="E3EBF3"/>
          </a:solidFill>
          <a:ln/>
        </p:spPr>
      </p:sp>
      <p:sp>
        <p:nvSpPr>
          <p:cNvPr id="43" name="Text 37"/>
          <p:cNvSpPr/>
          <p:nvPr/>
        </p:nvSpPr>
        <p:spPr>
          <a:xfrm>
            <a:off x="9285732" y="4754880"/>
            <a:ext cx="20802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2C4A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 DISCUSSION</a:t>
            </a:r>
            <a:endParaRPr lang="en-US" sz="750" dirty="0"/>
          </a:p>
        </p:txBody>
      </p:sp>
      <p:sp>
        <p:nvSpPr>
          <p:cNvPr id="44" name="Text 38"/>
          <p:cNvSpPr/>
          <p:nvPr/>
        </p:nvSpPr>
        <p:spPr>
          <a:xfrm>
            <a:off x="566928" y="5440680"/>
            <a:ext cx="11055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295A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next page frames these as one count-adjustment model; the pages after walk each layer with its current status.</a:t>
            </a:r>
            <a:endParaRPr lang="en-US" sz="1000" dirty="0"/>
          </a:p>
        </p:txBody>
      </p:sp>
      <p:sp>
        <p:nvSpPr>
          <p:cNvPr id="45" name="Text 39"/>
          <p:cNvSpPr/>
          <p:nvPr/>
        </p:nvSpPr>
        <p:spPr>
          <a:xfrm>
            <a:off x="566928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295A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InfraSure  ·  Outage Pricing Methodology  ·  Internal — for advisor review</a:t>
            </a:r>
            <a:endParaRPr lang="en-US" sz="800" dirty="0"/>
          </a:p>
        </p:txBody>
      </p:sp>
      <p:sp>
        <p:nvSpPr>
          <p:cNvPr id="46" name="Text 40"/>
          <p:cNvSpPr/>
          <p:nvPr/>
        </p:nvSpPr>
        <p:spPr>
          <a:xfrm>
            <a:off x="11073384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5A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E9F9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CONCEPTUAL MODEL · GEN 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5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328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Every layer adjusts one number: the event count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188720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328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quantity in focus: 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4E60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expected event count for the target year where outage duration ≥ T. Each layer is a factor on that count; loadings then turn it into the premium.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14400" y="1938528"/>
            <a:ext cx="8046720" cy="4050792"/>
          </a:xfrm>
          <a:prstGeom prst="rect">
            <a:avLst/>
          </a:prstGeom>
          <a:solidFill>
            <a:srgbClr val="EAF4F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938528"/>
            <a:ext cx="6858000" cy="3300984"/>
          </a:xfrm>
          <a:prstGeom prst="rect">
            <a:avLst/>
          </a:prstGeom>
          <a:solidFill>
            <a:srgbClr val="D8EEE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938528"/>
            <a:ext cx="5577840" cy="2551176"/>
          </a:xfrm>
          <a:prstGeom prst="rect">
            <a:avLst/>
          </a:prstGeom>
          <a:solidFill>
            <a:srgbClr val="BFE3E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1938528"/>
            <a:ext cx="4206240" cy="1801368"/>
          </a:xfrm>
          <a:prstGeom prst="rect">
            <a:avLst/>
          </a:prstGeom>
          <a:solidFill>
            <a:srgbClr val="9BD3C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1938528"/>
            <a:ext cx="3017520" cy="1051560"/>
          </a:xfrm>
          <a:prstGeom prst="rect">
            <a:avLst/>
          </a:prstGeom>
          <a:solidFill>
            <a:srgbClr val="0E9F9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206654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BASELINE COUNT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43000" y="2322576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EAFB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Annual expected events,</a:t>
            </a:r>
            <a:endParaRPr lang="en-US" sz="9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EAFB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duration ≥ T · county history (λ_county)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170432" y="3099816"/>
            <a:ext cx="2368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8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Customer basis   </a:t>
            </a:r>
            <a:pPr indent="0" marL="0">
              <a:buNone/>
            </a:pPr>
            <a:r>
              <a:rPr lang="en-US" sz="1200" i="1" dirty="0">
                <a:solidFill>
                  <a:srgbClr val="0B6E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× exposure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70432" y="3392424"/>
            <a:ext cx="2368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E60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county-event rate → the customer's own rate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703320" y="3227832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DCF0EE"/>
          </a:solidFill>
          <a:ln/>
        </p:spPr>
      </p:sp>
      <p:sp>
        <p:nvSpPr>
          <p:cNvPr id="15" name="Text 13"/>
          <p:cNvSpPr/>
          <p:nvPr/>
        </p:nvSpPr>
        <p:spPr>
          <a:xfrm>
            <a:off x="3703320" y="322783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0B6E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DONE · ACTIVE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1170432" y="3849624"/>
            <a:ext cx="3739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8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Intra-county spatial basis   </a:t>
            </a:r>
            <a:pPr indent="0" marL="0">
              <a:buNone/>
            </a:pPr>
            <a:r>
              <a:rPr lang="en-US" sz="1200" i="1" dirty="0">
                <a:solidFill>
                  <a:srgbClr val="0B6E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× exposure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70432" y="4142232"/>
            <a:ext cx="3739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E60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grid status, vegetation, density, elevation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074920" y="3977640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F6EBD2"/>
          </a:solidFill>
          <a:ln/>
        </p:spPr>
      </p:sp>
      <p:sp>
        <p:nvSpPr>
          <p:cNvPr id="19" name="Text 17"/>
          <p:cNvSpPr/>
          <p:nvPr/>
        </p:nvSpPr>
        <p:spPr>
          <a:xfrm>
            <a:off x="5074920" y="397764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9A6B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UNDER REVIEW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170432" y="4599432"/>
            <a:ext cx="5020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8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Trend &amp; predictability   </a:t>
            </a:r>
            <a:pPr indent="0" marL="0">
              <a:buNone/>
            </a:pPr>
            <a:r>
              <a:rPr lang="en-US" sz="1200" i="1" dirty="0">
                <a:solidFill>
                  <a:srgbClr val="0B6E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× frequency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70432" y="4892040"/>
            <a:ext cx="5020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E60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is the long-run mean the right forward rate?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355080" y="4727448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F6EBD2"/>
          </a:solidFill>
          <a:ln/>
        </p:spPr>
      </p:sp>
      <p:sp>
        <p:nvSpPr>
          <p:cNvPr id="23" name="Text 21"/>
          <p:cNvSpPr/>
          <p:nvPr/>
        </p:nvSpPr>
        <p:spPr>
          <a:xfrm>
            <a:off x="6355080" y="472744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9A6B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UNDER REVIEW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170432" y="5349240"/>
            <a:ext cx="6208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8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Forward climate &amp; grid   </a:t>
            </a:r>
            <a:pPr indent="0" marL="0">
              <a:buNone/>
            </a:pPr>
            <a:r>
              <a:rPr lang="en-US" sz="1200" i="1" dirty="0">
                <a:solidFill>
                  <a:srgbClr val="0B6E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× frequency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70432" y="5641848"/>
            <a:ext cx="6208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E60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captures extreme-weather-driven outage spikes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543800" y="5477256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E7ECEF"/>
          </a:solidFill>
          <a:ln/>
        </p:spPr>
      </p:sp>
      <p:sp>
        <p:nvSpPr>
          <p:cNvPr id="27" name="Text 25"/>
          <p:cNvSpPr/>
          <p:nvPr/>
        </p:nvSpPr>
        <p:spPr>
          <a:xfrm>
            <a:off x="7543800" y="547725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5C6B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WORK IN PROGRESS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9098280" y="352044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8295A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4000" dirty="0"/>
          </a:p>
        </p:txBody>
      </p:sp>
      <p:sp>
        <p:nvSpPr>
          <p:cNvPr id="29" name="Shape 27"/>
          <p:cNvSpPr/>
          <p:nvPr/>
        </p:nvSpPr>
        <p:spPr>
          <a:xfrm>
            <a:off x="9738360" y="2331720"/>
            <a:ext cx="1883664" cy="3657600"/>
          </a:xfrm>
          <a:prstGeom prst="rect">
            <a:avLst/>
          </a:prstGeom>
          <a:solidFill>
            <a:srgbClr val="E1F1EF"/>
          </a:solidFill>
          <a:ln w="19050">
            <a:solidFill>
              <a:srgbClr val="0E9F9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738360" y="3246120"/>
            <a:ext cx="18836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328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Adjusted</a:t>
            </a:r>
            <a:endParaRPr lang="en-US" sz="16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328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Premium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829800" y="4114800"/>
            <a:ext cx="1700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i="1" dirty="0">
                <a:solidFill>
                  <a:srgbClr val="4E60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adjusted count × payout,</a:t>
            </a:r>
            <a:endParaRPr lang="en-US" sz="8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50" i="1" dirty="0">
                <a:solidFill>
                  <a:srgbClr val="4E60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then expense &amp; margin loadings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66928" y="6089904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i="1" dirty="0">
                <a:solidFill>
                  <a:srgbClr val="8295A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Customer basis is active today; spatial and forward layers are shadow / review / WIP. Trigger-source alignment acts on the payout leg, not the count.</a:t>
            </a:r>
            <a:endParaRPr lang="en-US" sz="880" dirty="0"/>
          </a:p>
        </p:txBody>
      </p:sp>
      <p:sp>
        <p:nvSpPr>
          <p:cNvPr id="33" name="Text 31"/>
          <p:cNvSpPr/>
          <p:nvPr/>
        </p:nvSpPr>
        <p:spPr>
          <a:xfrm>
            <a:off x="566928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295A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InfraSure  ·  Outage Pricing Methodology  ·  Internal — for advisor review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1073384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5A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E9F9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LAYER 0 · BASELINE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5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328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Empirical county-trigger pricing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170432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E60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county-level expected loss — this is NOT the per-customer premium (that comes in Layer 1, page 7)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204704" y="676656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DCF0EE"/>
          </a:solidFill>
          <a:ln/>
        </p:spPr>
      </p:sp>
      <p:sp>
        <p:nvSpPr>
          <p:cNvPr id="6" name="Text 4"/>
          <p:cNvSpPr/>
          <p:nvPr/>
        </p:nvSpPr>
        <p:spPr>
          <a:xfrm>
            <a:off x="10204704" y="67665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0B6E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DONE · ACTIVE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66928" y="1627632"/>
            <a:ext cx="5760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328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often does a qualifying outage happen anywhere in the county — times the payout. 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E60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Built entirely from the public EAGLE-I record: county outage snapshots every 15 minutes, 2014–2025, stitched into an event catalog. No fitted curve, no third-party cat model — every number reproduces from the raw data.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66928" y="3154680"/>
            <a:ext cx="5760720" cy="457200"/>
          </a:xfrm>
          <a:prstGeom prst="rect">
            <a:avLst/>
          </a:prstGeom>
          <a:solidFill>
            <a:srgbClr val="0E2233"/>
          </a:solidFill>
          <a:ln/>
        </p:spPr>
      </p:sp>
      <p:sp>
        <p:nvSpPr>
          <p:cNvPr id="9" name="Text 7"/>
          <p:cNvSpPr/>
          <p:nvPr/>
        </p:nvSpPr>
        <p:spPr>
          <a:xfrm>
            <a:off x="704088" y="31546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AF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λ_county(T) = events/yr × share lasting ≥ 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66928" y="3703320"/>
            <a:ext cx="5760720" cy="457200"/>
          </a:xfrm>
          <a:prstGeom prst="rect">
            <a:avLst/>
          </a:prstGeom>
          <a:solidFill>
            <a:srgbClr val="0E2233"/>
          </a:solidFill>
          <a:ln/>
        </p:spPr>
      </p:sp>
      <p:sp>
        <p:nvSpPr>
          <p:cNvPr id="11" name="Text 9"/>
          <p:cNvSpPr/>
          <p:nvPr/>
        </p:nvSpPr>
        <p:spPr>
          <a:xfrm>
            <a:off x="704088" y="37033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AF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pure = λ_county(T) × X      retail = pure ÷ (1 − ER − TM)</a:t>
            </a:r>
            <a:endParaRPr lang="en-US" sz="125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398264"/>
            <a:ext cx="182880" cy="18288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859536" y="4334256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4E60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S(T) is read straight off the empirical survival curve — no Weibull, no fitting.</a:t>
            </a:r>
            <a:endParaRPr lang="en-US" sz="10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4901184"/>
            <a:ext cx="182880" cy="1828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859536" y="4837176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4E60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Modelability tiers gate credibility: green quotes, amber with caution, red suppressed.</a:t>
            </a:r>
            <a:endParaRPr lang="en-US" sz="10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5404104"/>
            <a:ext cx="182880" cy="1828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9536" y="5340096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4E60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λ_county is a county-event rate, not a customer's own frequency — so the premium here is a COUNTY figure, not a quote. Layer 1 (page 7) converts it to per-customer.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6720840" y="1481328"/>
            <a:ext cx="4901184" cy="4343400"/>
          </a:xfrm>
          <a:prstGeom prst="rect">
            <a:avLst/>
          </a:prstGeom>
          <a:solidFill>
            <a:srgbClr val="F2F6F9"/>
          </a:solidFill>
          <a:ln/>
          <a:effectLst>
            <a:outerShdw sx="100000" sy="100000" kx="0" ky="0" algn="bl" rotWithShape="0" blurRad="88900" dist="25400" dir="8100000">
              <a:srgbClr val="1A3A52">
                <a:alpha val="1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720840" y="1481328"/>
            <a:ext cx="64008" cy="4343400"/>
          </a:xfrm>
          <a:prstGeom prst="rect">
            <a:avLst/>
          </a:prstGeom>
          <a:solidFill>
            <a:srgbClr val="0E9F9A"/>
          </a:solidFill>
          <a:ln/>
        </p:spPr>
      </p:sp>
      <p:sp>
        <p:nvSpPr>
          <p:cNvPr id="20" name="Text 15"/>
          <p:cNvSpPr/>
          <p:nvPr/>
        </p:nvSpPr>
        <p:spPr>
          <a:xfrm>
            <a:off x="6995160" y="166420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0E9F9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WORKED ANCHOR · COUNTY LEVEL</a:t>
            </a: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6995160" y="1938528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8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Alachua County, FL · T = 4h · X = $500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6995160" y="2377440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E60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events / year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9966960" y="2377440"/>
            <a:ext cx="1490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328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1,055.7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6995160" y="2788920"/>
            <a:ext cx="4453128" cy="0"/>
          </a:xfrm>
          <a:prstGeom prst="line">
            <a:avLst/>
          </a:prstGeom>
          <a:noFill/>
          <a:ln w="12700">
            <a:solidFill>
              <a:srgbClr val="D8E2EA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6995160" y="2816352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E60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share lasting ≥ 4h  ·  S(T)</a:t>
            </a:r>
            <a:endParaRPr lang="en-US" sz="1050" dirty="0"/>
          </a:p>
        </p:txBody>
      </p:sp>
      <p:sp>
        <p:nvSpPr>
          <p:cNvPr id="26" name="Text 21"/>
          <p:cNvSpPr/>
          <p:nvPr/>
        </p:nvSpPr>
        <p:spPr>
          <a:xfrm>
            <a:off x="9966960" y="2816352"/>
            <a:ext cx="1490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328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0.2909</a:t>
            </a:r>
            <a:endParaRPr lang="en-US" sz="1150" dirty="0"/>
          </a:p>
        </p:txBody>
      </p:sp>
      <p:sp>
        <p:nvSpPr>
          <p:cNvPr id="27" name="Shape 22"/>
          <p:cNvSpPr/>
          <p:nvPr/>
        </p:nvSpPr>
        <p:spPr>
          <a:xfrm>
            <a:off x="6995160" y="3227832"/>
            <a:ext cx="4453128" cy="0"/>
          </a:xfrm>
          <a:prstGeom prst="line">
            <a:avLst/>
          </a:prstGeom>
          <a:noFill/>
          <a:ln w="12700">
            <a:solidFill>
              <a:srgbClr val="D8E2EA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6995160" y="3255264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E60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λ_county(4h)</a:t>
            </a:r>
            <a:endParaRPr lang="en-US" sz="1050" dirty="0"/>
          </a:p>
        </p:txBody>
      </p:sp>
      <p:sp>
        <p:nvSpPr>
          <p:cNvPr id="29" name="Text 24"/>
          <p:cNvSpPr/>
          <p:nvPr/>
        </p:nvSpPr>
        <p:spPr>
          <a:xfrm>
            <a:off x="9966960" y="3255264"/>
            <a:ext cx="1490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328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307.15</a:t>
            </a:r>
            <a:endParaRPr lang="en-US" sz="1150" dirty="0"/>
          </a:p>
        </p:txBody>
      </p:sp>
      <p:sp>
        <p:nvSpPr>
          <p:cNvPr id="30" name="Shape 25"/>
          <p:cNvSpPr/>
          <p:nvPr/>
        </p:nvSpPr>
        <p:spPr>
          <a:xfrm>
            <a:off x="6995160" y="3666744"/>
            <a:ext cx="4453128" cy="0"/>
          </a:xfrm>
          <a:prstGeom prst="line">
            <a:avLst/>
          </a:prstGeom>
          <a:noFill/>
          <a:ln w="12700">
            <a:solidFill>
              <a:srgbClr val="D8E2EA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6995160" y="3694176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328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county pure expected loss</a:t>
            </a:r>
            <a:endParaRPr lang="en-US" sz="1050" dirty="0"/>
          </a:p>
        </p:txBody>
      </p:sp>
      <p:sp>
        <p:nvSpPr>
          <p:cNvPr id="32" name="Text 27"/>
          <p:cNvSpPr/>
          <p:nvPr/>
        </p:nvSpPr>
        <p:spPr>
          <a:xfrm>
            <a:off x="9966960" y="3694176"/>
            <a:ext cx="1490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B6E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$153,574 / yr</a:t>
            </a:r>
            <a:endParaRPr lang="en-US" sz="1150" dirty="0"/>
          </a:p>
        </p:txBody>
      </p:sp>
      <p:sp>
        <p:nvSpPr>
          <p:cNvPr id="33" name="Shape 28"/>
          <p:cNvSpPr/>
          <p:nvPr/>
        </p:nvSpPr>
        <p:spPr>
          <a:xfrm>
            <a:off x="6995160" y="4105656"/>
            <a:ext cx="4453128" cy="0"/>
          </a:xfrm>
          <a:prstGeom prst="line">
            <a:avLst/>
          </a:prstGeom>
          <a:noFill/>
          <a:ln w="12700">
            <a:solidFill>
              <a:srgbClr val="D8E2EA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6995160" y="4133088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328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county-level retail (illustrative)</a:t>
            </a:r>
            <a:endParaRPr lang="en-US" sz="1050" dirty="0"/>
          </a:p>
        </p:txBody>
      </p:sp>
      <p:sp>
        <p:nvSpPr>
          <p:cNvPr id="35" name="Text 30"/>
          <p:cNvSpPr/>
          <p:nvPr/>
        </p:nvSpPr>
        <p:spPr>
          <a:xfrm>
            <a:off x="9966960" y="4133088"/>
            <a:ext cx="1490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B6E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$236,268 / yr</a:t>
            </a:r>
            <a:endParaRPr lang="en-US" sz="1150" dirty="0"/>
          </a:p>
        </p:txBody>
      </p:sp>
      <p:sp>
        <p:nvSpPr>
          <p:cNvPr id="36" name="Shape 31"/>
          <p:cNvSpPr/>
          <p:nvPr/>
        </p:nvSpPr>
        <p:spPr>
          <a:xfrm>
            <a:off x="6995160" y="4544568"/>
            <a:ext cx="4453128" cy="0"/>
          </a:xfrm>
          <a:prstGeom prst="line">
            <a:avLst/>
          </a:prstGeom>
          <a:noFill/>
          <a:ln w="12700">
            <a:solidFill>
              <a:srgbClr val="D8E2EA"/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6949440" y="4645152"/>
            <a:ext cx="4453128" cy="1097280"/>
          </a:xfrm>
          <a:prstGeom prst="roundRect">
            <a:avLst>
              <a:gd name="adj" fmla="val 5000"/>
            </a:avLst>
          </a:prstGeom>
          <a:solidFill>
            <a:srgbClr val="F6EBD2"/>
          </a:solidFill>
          <a:ln/>
        </p:spPr>
      </p:sp>
      <p:sp>
        <p:nvSpPr>
          <p:cNvPr id="38" name="Text 33"/>
          <p:cNvSpPr/>
          <p:nvPr/>
        </p:nvSpPr>
        <p:spPr>
          <a:xfrm>
            <a:off x="7178040" y="4718304"/>
            <a:ext cx="40233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9A6B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Not a customer's premium.  </a:t>
            </a:r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541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This is the county-level expected loss — as if one policy paid on every qualifying county event. The real per-customer premium (≈ $30–200 / yr) comes after the Layer 1 correction → page 7.</a:t>
            </a:r>
            <a:endParaRPr lang="en-US" sz="950" dirty="0"/>
          </a:p>
        </p:txBody>
      </p:sp>
      <p:sp>
        <p:nvSpPr>
          <p:cNvPr id="39" name="Text 34"/>
          <p:cNvSpPr/>
          <p:nvPr/>
        </p:nvSpPr>
        <p:spPr>
          <a:xfrm>
            <a:off x="566928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295A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InfraSure  ·  Outage Pricing Methodology  ·  Internal — for advisor review</a:t>
            </a:r>
            <a:endParaRPr lang="en-US" sz="800" dirty="0"/>
          </a:p>
        </p:txBody>
      </p:sp>
      <p:sp>
        <p:nvSpPr>
          <p:cNvPr id="40" name="Text 35"/>
          <p:cNvSpPr/>
          <p:nvPr/>
        </p:nvSpPr>
        <p:spPr>
          <a:xfrm>
            <a:off x="11073384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5A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E9F9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LAYER 1 · BASIS-RISK ALIGNMENT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5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328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Two known gaps between the data and the policy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188720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E60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baseline is honest about its own granularity. Two corrections close the gap between a county-event rate and the risk a specific insured location actually carries — before any forward-looking modeling.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66928" y="1920240"/>
            <a:ext cx="3502152" cy="3108960"/>
          </a:xfrm>
          <a:prstGeom prst="rect">
            <a:avLst/>
          </a:prstGeom>
          <a:solidFill>
            <a:srgbClr val="E9F0F5"/>
          </a:solidFill>
          <a:ln/>
          <a:effectLst>
            <a:outerShdw sx="100000" sy="100000" kx="0" ky="0" algn="bl" rotWithShape="0" blurRad="88900" dist="25400" dir="8100000">
              <a:srgbClr val="1A3A52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6928" y="1920240"/>
            <a:ext cx="64008" cy="3108960"/>
          </a:xfrm>
          <a:prstGeom prst="rect">
            <a:avLst/>
          </a:prstGeom>
          <a:solidFill>
            <a:srgbClr val="8295A7"/>
          </a:solidFill>
          <a:ln/>
        </p:spPr>
      </p:sp>
      <p:sp>
        <p:nvSpPr>
          <p:cNvPr id="7" name="Shape 5"/>
          <p:cNvSpPr/>
          <p:nvPr/>
        </p:nvSpPr>
        <p:spPr>
          <a:xfrm>
            <a:off x="841248" y="2212848"/>
            <a:ext cx="512064" cy="512064"/>
          </a:xfrm>
          <a:prstGeom prst="ellipse">
            <a:avLst/>
          </a:prstGeom>
          <a:solidFill>
            <a:srgbClr val="8295A7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4385" y="2345985"/>
            <a:ext cx="245791" cy="24579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41248" y="2852928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8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County event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41248" y="3246120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295A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EAGLE-I MEASURES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841248" y="3611880"/>
            <a:ext cx="29535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E60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 outage somewhere in a ~county-sized area — far larger than one site.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050792" y="3154680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295A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⊃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4343400" y="1920240"/>
            <a:ext cx="3502152" cy="3108960"/>
          </a:xfrm>
          <a:prstGeom prst="rect">
            <a:avLst/>
          </a:prstGeom>
          <a:solidFill>
            <a:srgbClr val="DCF0EE"/>
          </a:solidFill>
          <a:ln/>
          <a:effectLst>
            <a:outerShdw sx="100000" sy="100000" kx="0" ky="0" algn="bl" rotWithShape="0" blurRad="88900" dist="25400" dir="8100000">
              <a:srgbClr val="1A3A52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343400" y="1920240"/>
            <a:ext cx="64008" cy="3108960"/>
          </a:xfrm>
          <a:prstGeom prst="rect">
            <a:avLst/>
          </a:prstGeom>
          <a:solidFill>
            <a:srgbClr val="0B6E6A"/>
          </a:solidFill>
          <a:ln/>
        </p:spPr>
      </p:sp>
      <p:sp>
        <p:nvSpPr>
          <p:cNvPr id="15" name="Shape 12"/>
          <p:cNvSpPr/>
          <p:nvPr/>
        </p:nvSpPr>
        <p:spPr>
          <a:xfrm>
            <a:off x="4617720" y="2212848"/>
            <a:ext cx="512064" cy="512064"/>
          </a:xfrm>
          <a:prstGeom prst="ellipse">
            <a:avLst/>
          </a:prstGeom>
          <a:solidFill>
            <a:srgbClr val="0E9F9A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0857" y="2345985"/>
            <a:ext cx="245791" cy="245791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617720" y="2852928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8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Customer experience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4617720" y="3246120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B6E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CUSTOMER BASIS CORRECTION</a:t>
            </a:r>
            <a:endParaRPr lang="en-US" sz="850" dirty="0"/>
          </a:p>
        </p:txBody>
      </p:sp>
      <p:sp>
        <p:nvSpPr>
          <p:cNvPr id="19" name="Text 15"/>
          <p:cNvSpPr/>
          <p:nvPr/>
        </p:nvSpPr>
        <p:spPr>
          <a:xfrm>
            <a:off x="4617720" y="3611880"/>
            <a:ext cx="29535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E60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often does THIS customer lose power? Much rarer than the county rate.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7827264" y="3154680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295A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⊃</a:t>
            </a:r>
            <a:endParaRPr lang="en-US" sz="2000" dirty="0"/>
          </a:p>
        </p:txBody>
      </p:sp>
      <p:sp>
        <p:nvSpPr>
          <p:cNvPr id="21" name="Shape 17"/>
          <p:cNvSpPr/>
          <p:nvPr/>
        </p:nvSpPr>
        <p:spPr>
          <a:xfrm>
            <a:off x="8119872" y="1920240"/>
            <a:ext cx="3502152" cy="3108960"/>
          </a:xfrm>
          <a:prstGeom prst="rect">
            <a:avLst/>
          </a:prstGeom>
          <a:solidFill>
            <a:srgbClr val="F6EBD2"/>
          </a:solidFill>
          <a:ln/>
          <a:effectLst>
            <a:outerShdw sx="100000" sy="100000" kx="0" ky="0" algn="bl" rotWithShape="0" blurRad="88900" dist="25400" dir="8100000">
              <a:srgbClr val="1A3A52">
                <a:alpha val="1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8119872" y="1920240"/>
            <a:ext cx="64008" cy="3108960"/>
          </a:xfrm>
          <a:prstGeom prst="rect">
            <a:avLst/>
          </a:prstGeom>
          <a:solidFill>
            <a:srgbClr val="9A6B1F"/>
          </a:solidFill>
          <a:ln/>
        </p:spPr>
      </p:sp>
      <p:sp>
        <p:nvSpPr>
          <p:cNvPr id="23" name="Shape 19"/>
          <p:cNvSpPr/>
          <p:nvPr/>
        </p:nvSpPr>
        <p:spPr>
          <a:xfrm>
            <a:off x="8394192" y="2212848"/>
            <a:ext cx="512064" cy="512064"/>
          </a:xfrm>
          <a:prstGeom prst="ellipse">
            <a:avLst/>
          </a:prstGeom>
          <a:solidFill>
            <a:srgbClr val="9A6B1F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7329" y="2345985"/>
            <a:ext cx="245791" cy="245791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8394192" y="2852928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8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Insured location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8394192" y="3246120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9A6B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LOCATION BASIS CORRECTION</a:t>
            </a:r>
            <a:endParaRPr lang="en-US" sz="850" dirty="0"/>
          </a:p>
        </p:txBody>
      </p:sp>
      <p:sp>
        <p:nvSpPr>
          <p:cNvPr id="27" name="Text 22"/>
          <p:cNvSpPr/>
          <p:nvPr/>
        </p:nvSpPr>
        <p:spPr>
          <a:xfrm>
            <a:off x="8394192" y="3611880"/>
            <a:ext cx="29535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E60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Within a county, some sites are far more exposed than others.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566928" y="5257800"/>
            <a:ext cx="11055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0B6E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Each correction narrows the priced unit toward the actual insured site. Customer basis is shipped and active; location basis is under review.</a:t>
            </a:r>
            <a:endParaRPr lang="en-US" sz="1050" dirty="0"/>
          </a:p>
        </p:txBody>
      </p:sp>
      <p:sp>
        <p:nvSpPr>
          <p:cNvPr id="29" name="Text 24"/>
          <p:cNvSpPr/>
          <p:nvPr/>
        </p:nvSpPr>
        <p:spPr>
          <a:xfrm>
            <a:off x="566928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295A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InfraSure  ·  Outage Pricing Methodology  ·  Internal — for advisor review</a:t>
            </a:r>
            <a:endParaRPr lang="en-US" sz="800" dirty="0"/>
          </a:p>
        </p:txBody>
      </p:sp>
      <p:sp>
        <p:nvSpPr>
          <p:cNvPr id="30" name="Text 25"/>
          <p:cNvSpPr/>
          <p:nvPr/>
        </p:nvSpPr>
        <p:spPr>
          <a:xfrm>
            <a:off x="11073384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5A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E9F9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LAYER 1A · CUSTOMER BASIS RISK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5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328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From a county-event rate to a per-customer rate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10204704" y="676656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DCF0EE"/>
          </a:solidFill>
          <a:ln/>
        </p:spPr>
      </p:sp>
      <p:sp>
        <p:nvSpPr>
          <p:cNvPr id="5" name="Text 3"/>
          <p:cNvSpPr/>
          <p:nvPr/>
        </p:nvSpPr>
        <p:spPr>
          <a:xfrm>
            <a:off x="10204704" y="67665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0B6E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DONE · ACTIVE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66928" y="1481328"/>
            <a:ext cx="5760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328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Most county events darken only part of the county. 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E60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 scale the county rate by the average share of customers actually out during qualifying events. The result is what one customer experiences — not the county.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66928" y="2542032"/>
            <a:ext cx="5760720" cy="457200"/>
          </a:xfrm>
          <a:prstGeom prst="rect">
            <a:avLst/>
          </a:prstGeom>
          <a:solidFill>
            <a:srgbClr val="0E2233"/>
          </a:solidFill>
          <a:ln/>
        </p:spPr>
      </p:sp>
      <p:sp>
        <p:nvSpPr>
          <p:cNvPr id="8" name="Text 6"/>
          <p:cNvSpPr/>
          <p:nvPr/>
        </p:nvSpPr>
        <p:spPr>
          <a:xfrm>
            <a:off x="704088" y="254203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AF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multiplier = mean( customers_out / MCC 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66928" y="3090672"/>
            <a:ext cx="5760720" cy="457200"/>
          </a:xfrm>
          <a:prstGeom prst="rect">
            <a:avLst/>
          </a:prstGeom>
          <a:solidFill>
            <a:srgbClr val="0E2233"/>
          </a:solidFill>
          <a:ln/>
        </p:spPr>
      </p:sp>
      <p:sp>
        <p:nvSpPr>
          <p:cNvPr id="10" name="Text 8"/>
          <p:cNvSpPr/>
          <p:nvPr/>
        </p:nvSpPr>
        <p:spPr>
          <a:xfrm>
            <a:off x="704088" y="309067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AF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λ_customer(T) = λ_county(T) × multiplier</a:t>
            </a:r>
            <a:endParaRPr lang="en-US" sz="125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3822192"/>
            <a:ext cx="182880" cy="1828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59536" y="3758184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0B6E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Shrinks the per-customer expected loss by roughly 30–100×, county-dependent.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4325112"/>
            <a:ext cx="182880" cy="1828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59536" y="4261104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4E60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Now the headline rate on the dashboard; county-trigger stays as the reference.</a:t>
            </a:r>
            <a:endParaRPr lang="en-US" sz="10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4828032"/>
            <a:ext cx="182880" cy="1828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59536" y="4764024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4E60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Rests on the synchronous-outage approximation (A011) — biased toward over-stating loss, the conservative direction for pricing.</a:t>
            </a:r>
            <a:endParaRPr lang="en-US" sz="10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5330952"/>
            <a:ext cx="182880" cy="1828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59536" y="5266944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4E60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Coverage gate: available ≥100 events · caution 10–99 · suppressed &lt;10.</a:t>
            </a:r>
            <a:endParaRPr lang="en-US" sz="1000" dirty="0"/>
          </a:p>
        </p:txBody>
      </p:sp>
      <p:sp>
        <p:nvSpPr>
          <p:cNvPr id="19" name="Shape 13"/>
          <p:cNvSpPr/>
          <p:nvPr/>
        </p:nvSpPr>
        <p:spPr>
          <a:xfrm>
            <a:off x="6720840" y="1481328"/>
            <a:ext cx="4901184" cy="4343400"/>
          </a:xfrm>
          <a:prstGeom prst="rect">
            <a:avLst/>
          </a:prstGeom>
          <a:solidFill>
            <a:srgbClr val="F2F6F9"/>
          </a:solidFill>
          <a:ln/>
          <a:effectLst>
            <a:outerShdw sx="100000" sy="100000" kx="0" ky="0" algn="bl" rotWithShape="0" blurRad="88900" dist="25400" dir="8100000">
              <a:srgbClr val="1A3A52">
                <a:alpha val="10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6720840" y="1481328"/>
            <a:ext cx="64008" cy="4343400"/>
          </a:xfrm>
          <a:prstGeom prst="rect">
            <a:avLst/>
          </a:prstGeom>
          <a:solidFill>
            <a:srgbClr val="0E9F9A"/>
          </a:solidFill>
          <a:ln/>
        </p:spPr>
      </p:sp>
      <p:sp>
        <p:nvSpPr>
          <p:cNvPr id="21" name="Text 15"/>
          <p:cNvSpPr/>
          <p:nvPr/>
        </p:nvSpPr>
        <p:spPr>
          <a:xfrm>
            <a:off x="6995160" y="16916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E9F9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ORDER-OF-MAGNITUDE SHIFT</a:t>
            </a:r>
            <a:endParaRPr lang="en-US" sz="950" dirty="0"/>
          </a:p>
        </p:txBody>
      </p:sp>
      <p:sp>
        <p:nvSpPr>
          <p:cNvPr id="22" name="Text 16"/>
          <p:cNvSpPr/>
          <p:nvPr/>
        </p:nvSpPr>
        <p:spPr>
          <a:xfrm>
            <a:off x="6995160" y="1975104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E60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Pure expected loss · same trigger, same payout</a:t>
            </a:r>
            <a:endParaRPr lang="en-US" sz="1050" dirty="0"/>
          </a:p>
        </p:txBody>
      </p:sp>
      <p:sp>
        <p:nvSpPr>
          <p:cNvPr id="23" name="Text 17"/>
          <p:cNvSpPr/>
          <p:nvPr/>
        </p:nvSpPr>
        <p:spPr>
          <a:xfrm>
            <a:off x="6995160" y="24688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328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County-trigger view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6995160" y="2779776"/>
            <a:ext cx="4206240" cy="384048"/>
          </a:xfrm>
          <a:prstGeom prst="rect">
            <a:avLst/>
          </a:prstGeom>
          <a:solidFill>
            <a:srgbClr val="8295A7"/>
          </a:solidFill>
          <a:ln/>
        </p:spPr>
      </p:sp>
      <p:sp>
        <p:nvSpPr>
          <p:cNvPr id="25" name="Text 19"/>
          <p:cNvSpPr/>
          <p:nvPr/>
        </p:nvSpPr>
        <p:spPr>
          <a:xfrm>
            <a:off x="7086600" y="2779776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≈ $3,000–7,500 / yr</a:t>
            </a:r>
            <a:endParaRPr lang="en-US" sz="1050" dirty="0"/>
          </a:p>
        </p:txBody>
      </p:sp>
      <p:sp>
        <p:nvSpPr>
          <p:cNvPr id="26" name="Text 20"/>
          <p:cNvSpPr/>
          <p:nvPr/>
        </p:nvSpPr>
        <p:spPr>
          <a:xfrm>
            <a:off x="6995160" y="34290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328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Per-customer view (headline)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6995160" y="3739896"/>
            <a:ext cx="1051560" cy="384048"/>
          </a:xfrm>
          <a:prstGeom prst="rect">
            <a:avLst/>
          </a:prstGeom>
          <a:solidFill>
            <a:srgbClr val="0E9F9A"/>
          </a:solidFill>
          <a:ln/>
        </p:spPr>
      </p:sp>
      <p:sp>
        <p:nvSpPr>
          <p:cNvPr id="28" name="Text 22"/>
          <p:cNvSpPr/>
          <p:nvPr/>
        </p:nvSpPr>
        <p:spPr>
          <a:xfrm>
            <a:off x="8138160" y="3739896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6E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≈ $30–200 / yr</a:t>
            </a:r>
            <a:endParaRPr lang="en-US" sz="1050" dirty="0"/>
          </a:p>
        </p:txBody>
      </p:sp>
      <p:sp>
        <p:nvSpPr>
          <p:cNvPr id="29" name="Shape 23"/>
          <p:cNvSpPr/>
          <p:nvPr/>
        </p:nvSpPr>
        <p:spPr>
          <a:xfrm>
            <a:off x="6995160" y="4434840"/>
            <a:ext cx="4453128" cy="0"/>
          </a:xfrm>
          <a:prstGeom prst="line">
            <a:avLst/>
          </a:prstGeom>
          <a:noFill/>
          <a:ln w="12700">
            <a:solidFill>
              <a:srgbClr val="D8E2EA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6995160" y="4572000"/>
            <a:ext cx="4434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1328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Why it falls so far:  </a:t>
            </a:r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4E60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transformer or single-circuit fault is a county “event,” but only a sliver of the county is dark — so the customer's own rate sits far below the county's.</a:t>
            </a:r>
            <a:endParaRPr lang="en-US" sz="1000" dirty="0"/>
          </a:p>
        </p:txBody>
      </p:sp>
      <p:sp>
        <p:nvSpPr>
          <p:cNvPr id="31" name="Text 25"/>
          <p:cNvSpPr/>
          <p:nvPr/>
        </p:nvSpPr>
        <p:spPr>
          <a:xfrm>
            <a:off x="566928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295A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InfraSure  ·  Outage Pricing Methodology  ·  Internal — for advisor review</a:t>
            </a:r>
            <a:endParaRPr lang="en-US" sz="800" dirty="0"/>
          </a:p>
        </p:txBody>
      </p:sp>
      <p:sp>
        <p:nvSpPr>
          <p:cNvPr id="32" name="Text 26"/>
          <p:cNvSpPr/>
          <p:nvPr/>
        </p:nvSpPr>
        <p:spPr>
          <a:xfrm>
            <a:off x="11073384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5A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E9F9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LAYER 1B · LOCATION BASIS RISK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5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328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within-county frequency relativity, keyed on rurality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10204704" y="676656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F6EBD2"/>
          </a:solidFill>
          <a:ln/>
        </p:spPr>
      </p:sp>
      <p:sp>
        <p:nvSpPr>
          <p:cNvPr id="5" name="Text 3"/>
          <p:cNvSpPr/>
          <p:nvPr/>
        </p:nvSpPr>
        <p:spPr>
          <a:xfrm>
            <a:off x="10204704" y="67665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9A6B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UNDER REVIEW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66928" y="1481328"/>
            <a:ext cx="5806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328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Two addresses in the same county carry different outage exposure. 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E60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Long rural radial feeders with heavy tree contact fail more than dense, looped, undergrounded urban grids. We capture this as an actuarial relativity on how OFTEN a location crosses the trigger.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66928" y="2670048"/>
            <a:ext cx="5806440" cy="457200"/>
          </a:xfrm>
          <a:prstGeom prst="rect">
            <a:avLst/>
          </a:prstGeom>
          <a:solidFill>
            <a:srgbClr val="0E2233"/>
          </a:solidFill>
          <a:ln/>
        </p:spPr>
      </p:sp>
      <p:sp>
        <p:nvSpPr>
          <p:cNvPr id="8" name="Text 6"/>
          <p:cNvSpPr/>
          <p:nvPr/>
        </p:nvSpPr>
        <p:spPr>
          <a:xfrm>
            <a:off x="704088" y="2670048"/>
            <a:ext cx="5532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AF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λ_location = λ_county(T) × f(rurality)</a:t>
            </a:r>
            <a:endParaRPr lang="en-US" sz="12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3319272"/>
            <a:ext cx="182880" cy="1828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59536" y="3255264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4E60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Mean-1, exposure-weighted within each county — relativities redistribute risk inside a county, they never change the county total.</a:t>
            </a:r>
            <a:endParaRPr lang="en-US" sz="10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886200"/>
            <a:ext cx="182880" cy="1828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59536" y="3822192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4E60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Proxied by density (customers / km²): it ranks towns better than raw size, and the gradient is large and monotone.</a:t>
            </a:r>
            <a:endParaRPr lang="en-US" sz="10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4453128"/>
            <a:ext cx="182880" cy="1828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59536" y="438912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4E60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Capped for attribution confidence — the cap reflects how surely we can place an address in the tail, not the size of the signal.</a:t>
            </a:r>
            <a:endParaRPr lang="en-US" sz="10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5020056"/>
            <a:ext cx="182880" cy="18288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59536" y="4956048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4E60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Utility identity is deliberately NOT here — it belongs to restoration duration / grid condition, to avoid double-counting the baseline.</a:t>
            </a:r>
            <a:endParaRPr lang="en-US" sz="1000" dirty="0"/>
          </a:p>
        </p:txBody>
      </p:sp>
      <p:sp>
        <p:nvSpPr>
          <p:cNvPr id="17" name="Shape 11"/>
          <p:cNvSpPr/>
          <p:nvPr/>
        </p:nvSpPr>
        <p:spPr>
          <a:xfrm>
            <a:off x="6812280" y="1481328"/>
            <a:ext cx="4809744" cy="4343400"/>
          </a:xfrm>
          <a:prstGeom prst="rect">
            <a:avLst/>
          </a:prstGeom>
          <a:solidFill>
            <a:srgbClr val="F2F6F9"/>
          </a:solidFill>
          <a:ln/>
          <a:effectLst>
            <a:outerShdw sx="100000" sy="100000" kx="0" ky="0" algn="bl" rotWithShape="0" blurRad="88900" dist="25400" dir="8100000">
              <a:srgbClr val="1A3A52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6812280" y="1481328"/>
            <a:ext cx="64008" cy="4343400"/>
          </a:xfrm>
          <a:prstGeom prst="rect">
            <a:avLst/>
          </a:prstGeom>
          <a:solidFill>
            <a:srgbClr val="9A6B1F"/>
          </a:solidFill>
          <a:ln/>
        </p:spPr>
      </p:sp>
      <p:sp>
        <p:nvSpPr>
          <p:cNvPr id="19" name="Text 13"/>
          <p:cNvSpPr/>
          <p:nvPr/>
        </p:nvSpPr>
        <p:spPr>
          <a:xfrm>
            <a:off x="7086600" y="16916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9A6B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RELATIVITY GRADIENT</a:t>
            </a:r>
            <a:endParaRPr lang="en-US" sz="950" dirty="0"/>
          </a:p>
        </p:txBody>
      </p:sp>
      <p:sp>
        <p:nvSpPr>
          <p:cNvPr id="20" name="Text 14"/>
          <p:cNvSpPr/>
          <p:nvPr/>
        </p:nvSpPr>
        <p:spPr>
          <a:xfrm>
            <a:off x="7086600" y="1975104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4E60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Outage-frequency relativity vs county average (T ≥ 4h)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7086600" y="26060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328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Rural third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7086600" y="2880360"/>
            <a:ext cx="3158836" cy="365760"/>
          </a:xfrm>
          <a:prstGeom prst="rect">
            <a:avLst/>
          </a:prstGeom>
          <a:solidFill>
            <a:srgbClr val="9A6B1F"/>
          </a:solidFill>
          <a:ln/>
        </p:spPr>
      </p:sp>
      <p:sp>
        <p:nvSpPr>
          <p:cNvPr id="23" name="Text 17"/>
          <p:cNvSpPr/>
          <p:nvPr/>
        </p:nvSpPr>
        <p:spPr>
          <a:xfrm>
            <a:off x="10318588" y="28803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A6B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1.9×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7086600" y="344728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328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County average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7086600" y="3721608"/>
            <a:ext cx="1662545" cy="365760"/>
          </a:xfrm>
          <a:prstGeom prst="rect">
            <a:avLst/>
          </a:prstGeom>
          <a:solidFill>
            <a:srgbClr val="8295A7"/>
          </a:solidFill>
          <a:ln/>
        </p:spPr>
      </p:sp>
      <p:sp>
        <p:nvSpPr>
          <p:cNvPr id="26" name="Text 20"/>
          <p:cNvSpPr/>
          <p:nvPr/>
        </p:nvSpPr>
        <p:spPr>
          <a:xfrm>
            <a:off x="8822297" y="372160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295A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1.0×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7086600" y="428853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328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Urban third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7086600" y="4562856"/>
            <a:ext cx="1197033" cy="365760"/>
          </a:xfrm>
          <a:prstGeom prst="rect">
            <a:avLst/>
          </a:prstGeom>
          <a:solidFill>
            <a:srgbClr val="0E9F9A"/>
          </a:solidFill>
          <a:ln/>
        </p:spPr>
      </p:sp>
      <p:sp>
        <p:nvSpPr>
          <p:cNvPr id="29" name="Text 23"/>
          <p:cNvSpPr/>
          <p:nvPr/>
        </p:nvSpPr>
        <p:spPr>
          <a:xfrm>
            <a:off x="8356785" y="4562856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9F9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0.72×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7086600" y="5193792"/>
            <a:ext cx="4297680" cy="0"/>
          </a:xfrm>
          <a:prstGeom prst="line">
            <a:avLst/>
          </a:prstGeom>
          <a:noFill/>
          <a:ln w="12700">
            <a:solidFill>
              <a:srgbClr val="D8E2EA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7086600" y="530352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8295A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Spread widens to ~3× at T ≥ 8h. About 1 in 10 customers sits in a ≥2× cell. Validating out-of-region before any activation.</a:t>
            </a:r>
            <a:endParaRPr lang="en-US" sz="950" dirty="0"/>
          </a:p>
        </p:txBody>
      </p:sp>
      <p:sp>
        <p:nvSpPr>
          <p:cNvPr id="32" name="Text 26"/>
          <p:cNvSpPr/>
          <p:nvPr/>
        </p:nvSpPr>
        <p:spPr>
          <a:xfrm>
            <a:off x="566928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295A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InfraSure  ·  Outage Pricing Methodology  ·  Internal — for advisor review</a:t>
            </a:r>
            <a:endParaRPr lang="en-US" sz="800" dirty="0"/>
          </a:p>
        </p:txBody>
      </p:sp>
      <p:sp>
        <p:nvSpPr>
          <p:cNvPr id="33" name="Text 27"/>
          <p:cNvSpPr/>
          <p:nvPr/>
        </p:nvSpPr>
        <p:spPr>
          <a:xfrm>
            <a:off x="11073384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5A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2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E9F9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LAYER 2 · FORWARD-LOOKING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822960"/>
            <a:ext cx="110550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historical mean is a starting point,</a:t>
            </a:r>
            <a:endParaRPr lang="en-US" sz="24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not always the best forward estimator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20574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9DB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baseline averages 12 years equally. But some counties trend, some shift regime, some are dominated by one storm year. The forward-looking layer leans the estimate toward where the risk is actually heading — carefully, and only when earned: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2926080"/>
            <a:ext cx="5440680" cy="1874520"/>
          </a:xfrm>
          <a:prstGeom prst="rect">
            <a:avLst/>
          </a:prstGeom>
          <a:solidFill>
            <a:srgbClr val="1A3A52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2926080"/>
            <a:ext cx="64008" cy="1874520"/>
          </a:xfrm>
          <a:prstGeom prst="rect">
            <a:avLst/>
          </a:prstGeom>
          <a:solidFill>
            <a:srgbClr val="0E9F9A"/>
          </a:solidFill>
          <a:ln/>
        </p:spPr>
      </p:sp>
      <p:sp>
        <p:nvSpPr>
          <p:cNvPr id="7" name="Shape 5"/>
          <p:cNvSpPr/>
          <p:nvPr/>
        </p:nvSpPr>
        <p:spPr>
          <a:xfrm>
            <a:off x="859536" y="3200400"/>
            <a:ext cx="493776" cy="493776"/>
          </a:xfrm>
          <a:prstGeom prst="ellipse">
            <a:avLst/>
          </a:prstGeom>
          <a:solidFill>
            <a:srgbClr val="0E9F9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918" y="3328782"/>
            <a:ext cx="237012" cy="2370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27048" y="3310128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baseline view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59536" y="3886200"/>
            <a:ext cx="48554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C9DB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Twelve years of history, weighted equally. Stable and defensible — but blind to where a county is actually heading.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217920" y="2926080"/>
            <a:ext cx="5440680" cy="1874520"/>
          </a:xfrm>
          <a:prstGeom prst="rect">
            <a:avLst/>
          </a:prstGeom>
          <a:solidFill>
            <a:srgbClr val="1A3A52"/>
          </a:solidFill>
          <a:ln/>
        </p:spPr>
      </p:sp>
      <p:sp>
        <p:nvSpPr>
          <p:cNvPr id="12" name="Shape 9"/>
          <p:cNvSpPr/>
          <p:nvPr/>
        </p:nvSpPr>
        <p:spPr>
          <a:xfrm>
            <a:off x="6217920" y="2926080"/>
            <a:ext cx="64008" cy="1874520"/>
          </a:xfrm>
          <a:prstGeom prst="rect">
            <a:avLst/>
          </a:prstGeom>
          <a:solidFill>
            <a:srgbClr val="0E9F9A"/>
          </a:solidFill>
          <a:ln/>
        </p:spPr>
      </p:sp>
      <p:sp>
        <p:nvSpPr>
          <p:cNvPr id="13" name="Shape 10"/>
          <p:cNvSpPr/>
          <p:nvPr/>
        </p:nvSpPr>
        <p:spPr>
          <a:xfrm>
            <a:off x="6510528" y="3200400"/>
            <a:ext cx="493776" cy="493776"/>
          </a:xfrm>
          <a:prstGeom prst="ellipse">
            <a:avLst/>
          </a:prstGeom>
          <a:solidFill>
            <a:srgbClr val="0E9F9A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8910" y="3328782"/>
            <a:ext cx="237012" cy="23701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178040" y="3310128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forward-looking view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6510528" y="3886200"/>
            <a:ext cx="48554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C9DB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Lean the estimate toward the trajectory the data shows — only where the signal is trustworthy, and only after it is validated.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566928" y="51206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First question, before adjusting anything: 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9DB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where could a forward signal even come from? There are three sources — and only one sits in our data today.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E9F9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LAYER 2 · FORWARD-LOOKING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5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328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Where can a forward signal come from?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188720"/>
            <a:ext cx="11055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E60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signal that next year will differ from the historical average has three possible sources. We start with the one already sitting in our data — then layer the others as they are built and validated.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66928" y="1874520"/>
            <a:ext cx="3502152" cy="3200400"/>
          </a:xfrm>
          <a:prstGeom prst="rect">
            <a:avLst/>
          </a:prstGeom>
          <a:solidFill>
            <a:srgbClr val="F2F6F9"/>
          </a:solidFill>
          <a:ln/>
          <a:effectLst>
            <a:outerShdw sx="100000" sy="100000" kx="0" ky="0" algn="bl" rotWithShape="0" blurRad="88900" dist="25400" dir="8100000">
              <a:srgbClr val="1A3A52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6928" y="1874520"/>
            <a:ext cx="64008" cy="3200400"/>
          </a:xfrm>
          <a:prstGeom prst="rect">
            <a:avLst/>
          </a:prstGeom>
          <a:solidFill>
            <a:srgbClr val="0E9F9A"/>
          </a:solidFill>
          <a:ln/>
        </p:spPr>
      </p:sp>
      <p:sp>
        <p:nvSpPr>
          <p:cNvPr id="7" name="Shape 5"/>
          <p:cNvSpPr/>
          <p:nvPr/>
        </p:nvSpPr>
        <p:spPr>
          <a:xfrm>
            <a:off x="841248" y="2148840"/>
            <a:ext cx="493776" cy="493776"/>
          </a:xfrm>
          <a:prstGeom prst="ellipse">
            <a:avLst/>
          </a:prstGeom>
          <a:solidFill>
            <a:srgbClr val="0E9F9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630" y="2277222"/>
            <a:ext cx="237012" cy="23701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514600" y="221284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F6EBD2"/>
          </a:solidFill>
          <a:ln/>
        </p:spPr>
      </p:sp>
      <p:sp>
        <p:nvSpPr>
          <p:cNvPr id="10" name="Text 7"/>
          <p:cNvSpPr/>
          <p:nvPr/>
        </p:nvSpPr>
        <p:spPr>
          <a:xfrm>
            <a:off x="2514600" y="221284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9A6B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UNDER REVIEW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841248" y="2788920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8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Pattern in the history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41248" y="3163824"/>
            <a:ext cx="2953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E9F9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SHAPE OF THE SERIES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841248" y="3493008"/>
            <a:ext cx="295351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4E60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Trend, regime shift, or volatility read straight off the county's own annual record. Needs no new data — so it comes first.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343400" y="1874520"/>
            <a:ext cx="3502152" cy="3200400"/>
          </a:xfrm>
          <a:prstGeom prst="rect">
            <a:avLst/>
          </a:prstGeom>
          <a:solidFill>
            <a:srgbClr val="F2F6F9"/>
          </a:solidFill>
          <a:ln/>
          <a:effectLst>
            <a:outerShdw sx="100000" sy="100000" kx="0" ky="0" algn="bl" rotWithShape="0" blurRad="88900" dist="25400" dir="8100000">
              <a:srgbClr val="1A3A52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343400" y="1874520"/>
            <a:ext cx="64008" cy="3200400"/>
          </a:xfrm>
          <a:prstGeom prst="rect">
            <a:avLst/>
          </a:prstGeom>
          <a:solidFill>
            <a:srgbClr val="9A6B1F"/>
          </a:solidFill>
          <a:ln/>
        </p:spPr>
      </p:sp>
      <p:sp>
        <p:nvSpPr>
          <p:cNvPr id="16" name="Shape 13"/>
          <p:cNvSpPr/>
          <p:nvPr/>
        </p:nvSpPr>
        <p:spPr>
          <a:xfrm>
            <a:off x="4617720" y="2148840"/>
            <a:ext cx="493776" cy="493776"/>
          </a:xfrm>
          <a:prstGeom prst="ellipse">
            <a:avLst/>
          </a:prstGeom>
          <a:solidFill>
            <a:srgbClr val="0E9F9A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6102" y="2277222"/>
            <a:ext cx="237012" cy="237012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6291072" y="221284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E7ECEF"/>
          </a:solidFill>
          <a:ln/>
        </p:spPr>
      </p:sp>
      <p:sp>
        <p:nvSpPr>
          <p:cNvPr id="19" name="Text 15"/>
          <p:cNvSpPr/>
          <p:nvPr/>
        </p:nvSpPr>
        <p:spPr>
          <a:xfrm>
            <a:off x="6291072" y="221284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5C6B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WORK IN PROGRESS</a:t>
            </a:r>
            <a:endParaRPr lang="en-US" sz="750" dirty="0"/>
          </a:p>
        </p:txBody>
      </p:sp>
      <p:sp>
        <p:nvSpPr>
          <p:cNvPr id="20" name="Text 16"/>
          <p:cNvSpPr/>
          <p:nvPr/>
        </p:nvSpPr>
        <p:spPr>
          <a:xfrm>
            <a:off x="4617720" y="2788920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8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Hazard &amp; weather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4617720" y="3163824"/>
            <a:ext cx="2953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9A6B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OUTSIDE DRIVERS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4617720" y="3493008"/>
            <a:ext cx="295351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4E60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Storms, wildfire, flood, heat, climate regime — the perils that drive extreme outage spikes.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8119872" y="1874520"/>
            <a:ext cx="3502152" cy="3200400"/>
          </a:xfrm>
          <a:prstGeom prst="rect">
            <a:avLst/>
          </a:prstGeom>
          <a:solidFill>
            <a:srgbClr val="F2F6F9"/>
          </a:solidFill>
          <a:ln/>
          <a:effectLst>
            <a:outerShdw sx="100000" sy="100000" kx="0" ky="0" algn="bl" rotWithShape="0" blurRad="88900" dist="25400" dir="8100000">
              <a:srgbClr val="1A3A52">
                <a:alpha val="1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8119872" y="1874520"/>
            <a:ext cx="64008" cy="3200400"/>
          </a:xfrm>
          <a:prstGeom prst="rect">
            <a:avLst/>
          </a:prstGeom>
          <a:solidFill>
            <a:srgbClr val="5C6B78"/>
          </a:solidFill>
          <a:ln/>
        </p:spPr>
      </p:sp>
      <p:sp>
        <p:nvSpPr>
          <p:cNvPr id="25" name="Shape 21"/>
          <p:cNvSpPr/>
          <p:nvPr/>
        </p:nvSpPr>
        <p:spPr>
          <a:xfrm>
            <a:off x="8394192" y="2148840"/>
            <a:ext cx="493776" cy="493776"/>
          </a:xfrm>
          <a:prstGeom prst="ellipse">
            <a:avLst/>
          </a:prstGeom>
          <a:solidFill>
            <a:srgbClr val="0E9F9A"/>
          </a:solidFill>
          <a:ln/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2574" y="2277222"/>
            <a:ext cx="237012" cy="237012"/>
          </a:xfrm>
          <a:prstGeom prst="rect">
            <a:avLst/>
          </a:prstGeom>
        </p:spPr>
      </p:pic>
      <p:sp>
        <p:nvSpPr>
          <p:cNvPr id="27" name="Shape 22"/>
          <p:cNvSpPr/>
          <p:nvPr/>
        </p:nvSpPr>
        <p:spPr>
          <a:xfrm>
            <a:off x="10067544" y="221284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E7ECEF"/>
          </a:solidFill>
          <a:ln/>
        </p:spPr>
      </p:sp>
      <p:sp>
        <p:nvSpPr>
          <p:cNvPr id="28" name="Text 23"/>
          <p:cNvSpPr/>
          <p:nvPr/>
        </p:nvSpPr>
        <p:spPr>
          <a:xfrm>
            <a:off x="10067544" y="221284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5C6B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WORK IN PROGRESS</a:t>
            </a:r>
            <a:endParaRPr lang="en-US" sz="750" dirty="0"/>
          </a:p>
        </p:txBody>
      </p:sp>
      <p:sp>
        <p:nvSpPr>
          <p:cNvPr id="29" name="Text 24"/>
          <p:cNvSpPr/>
          <p:nvPr/>
        </p:nvSpPr>
        <p:spPr>
          <a:xfrm>
            <a:off x="8394192" y="2788920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8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Grid condition</a:t>
            </a:r>
            <a:endParaRPr lang="en-US" sz="1400" dirty="0"/>
          </a:p>
        </p:txBody>
      </p:sp>
      <p:sp>
        <p:nvSpPr>
          <p:cNvPr id="30" name="Text 25"/>
          <p:cNvSpPr/>
          <p:nvPr/>
        </p:nvSpPr>
        <p:spPr>
          <a:xfrm>
            <a:off x="8394192" y="3163824"/>
            <a:ext cx="2953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5C6B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INFRASTRUCTURE</a:t>
            </a:r>
            <a:endParaRPr lang="en-US" sz="800" dirty="0"/>
          </a:p>
        </p:txBody>
      </p:sp>
      <p:sp>
        <p:nvSpPr>
          <p:cNvPr id="31" name="Text 26"/>
          <p:cNvSpPr/>
          <p:nvPr/>
        </p:nvSpPr>
        <p:spPr>
          <a:xfrm>
            <a:off x="8394192" y="3493008"/>
            <a:ext cx="295351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4E60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Utility reliability, hardening / capex, restoration capacity — is the grid getting stronger or weaker?</a:t>
            </a:r>
            <a:endParaRPr lang="en-US" sz="1050" dirty="0"/>
          </a:p>
        </p:txBody>
      </p:sp>
      <p:sp>
        <p:nvSpPr>
          <p:cNvPr id="32" name="Text 27"/>
          <p:cNvSpPr/>
          <p:nvPr/>
        </p:nvSpPr>
        <p:spPr>
          <a:xfrm>
            <a:off x="566928" y="5285232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328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we do now: 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E60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 read the pattern in the history (next page). Hazard and grid are the planned lanes — and the pattern read is also how we route a county toward them.</a:t>
            </a:r>
            <a:endParaRPr lang="en-US" sz="1050" dirty="0"/>
          </a:p>
        </p:txBody>
      </p:sp>
      <p:sp>
        <p:nvSpPr>
          <p:cNvPr id="33" name="Text 28"/>
          <p:cNvSpPr/>
          <p:nvPr/>
        </p:nvSpPr>
        <p:spPr>
          <a:xfrm>
            <a:off x="566928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295A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InfraSure  ·  Outage Pricing Methodology  ·  Internal — for advisor review</a:t>
            </a:r>
            <a:endParaRPr lang="en-US" sz="800" dirty="0"/>
          </a:p>
        </p:txBody>
      </p:sp>
      <p:sp>
        <p:nvSpPr>
          <p:cNvPr id="34" name="Text 29"/>
          <p:cNvSpPr/>
          <p:nvPr/>
        </p:nvSpPr>
        <p:spPr>
          <a:xfrm>
            <a:off x="11073384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5A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E9F9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LAYER 2A · PREDICTABILITY ROUTING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5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328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Read the shape first — then route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10204704" y="676656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F6EBD2"/>
          </a:solidFill>
          <a:ln/>
        </p:spPr>
      </p:sp>
      <p:sp>
        <p:nvSpPr>
          <p:cNvPr id="5" name="Text 3"/>
          <p:cNvSpPr/>
          <p:nvPr/>
        </p:nvSpPr>
        <p:spPr>
          <a:xfrm>
            <a:off x="10204704" y="67665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9A6B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UNDER REVIEW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66928" y="1188720"/>
            <a:ext cx="11055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9A6B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Direction is not reliability. 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E60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same upward slope can be a steady climb we can price on — or a single storm year masquerading as a trend. So we read each county's history shape, then route it to the right treatment instead of blindly applying a multiplier.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66928" y="1828800"/>
            <a:ext cx="3502152" cy="1755648"/>
          </a:xfrm>
          <a:prstGeom prst="rect">
            <a:avLst/>
          </a:prstGeom>
          <a:solidFill>
            <a:srgbClr val="F2F6F9"/>
          </a:solidFill>
          <a:ln/>
          <a:effectLst>
            <a:outerShdw sx="100000" sy="100000" kx="0" ky="0" algn="bl" rotWithShape="0" blurRad="88900" dist="25400" dir="8100000">
              <a:srgbClr val="1A3A52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66928" y="1828800"/>
            <a:ext cx="64008" cy="1755648"/>
          </a:xfrm>
          <a:prstGeom prst="rect">
            <a:avLst/>
          </a:prstGeom>
          <a:solidFill>
            <a:srgbClr val="0E9F9A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938528"/>
            <a:ext cx="2990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28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Smooth worsening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59536" y="2677886"/>
            <a:ext cx="300609" cy="156754"/>
          </a:xfrm>
          <a:prstGeom prst="rect">
            <a:avLst/>
          </a:prstGeom>
          <a:solidFill>
            <a:srgbClr val="0E9F9A"/>
          </a:solidFill>
          <a:ln/>
        </p:spPr>
      </p:sp>
      <p:sp>
        <p:nvSpPr>
          <p:cNvPr id="11" name="Shape 9"/>
          <p:cNvSpPr/>
          <p:nvPr/>
        </p:nvSpPr>
        <p:spPr>
          <a:xfrm>
            <a:off x="1233297" y="2599509"/>
            <a:ext cx="300609" cy="235131"/>
          </a:xfrm>
          <a:prstGeom prst="rect">
            <a:avLst/>
          </a:prstGeom>
          <a:solidFill>
            <a:srgbClr val="0E9F9A"/>
          </a:solidFill>
          <a:ln/>
        </p:spPr>
      </p:sp>
      <p:sp>
        <p:nvSpPr>
          <p:cNvPr id="12" name="Shape 10"/>
          <p:cNvSpPr/>
          <p:nvPr/>
        </p:nvSpPr>
        <p:spPr>
          <a:xfrm>
            <a:off x="1607058" y="2599509"/>
            <a:ext cx="300609" cy="235131"/>
          </a:xfrm>
          <a:prstGeom prst="rect">
            <a:avLst/>
          </a:prstGeom>
          <a:solidFill>
            <a:srgbClr val="0E9F9A"/>
          </a:solidFill>
          <a:ln/>
        </p:spPr>
      </p:sp>
      <p:sp>
        <p:nvSpPr>
          <p:cNvPr id="13" name="Shape 11"/>
          <p:cNvSpPr/>
          <p:nvPr/>
        </p:nvSpPr>
        <p:spPr>
          <a:xfrm>
            <a:off x="1980819" y="2521131"/>
            <a:ext cx="300609" cy="313509"/>
          </a:xfrm>
          <a:prstGeom prst="rect">
            <a:avLst/>
          </a:prstGeom>
          <a:solidFill>
            <a:srgbClr val="0E9F9A"/>
          </a:solidFill>
          <a:ln/>
        </p:spPr>
      </p:sp>
      <p:sp>
        <p:nvSpPr>
          <p:cNvPr id="14" name="Shape 12"/>
          <p:cNvSpPr/>
          <p:nvPr/>
        </p:nvSpPr>
        <p:spPr>
          <a:xfrm>
            <a:off x="2354580" y="2442754"/>
            <a:ext cx="300609" cy="391886"/>
          </a:xfrm>
          <a:prstGeom prst="rect">
            <a:avLst/>
          </a:prstGeom>
          <a:solidFill>
            <a:srgbClr val="0E9F9A"/>
          </a:solidFill>
          <a:ln/>
        </p:spPr>
      </p:sp>
      <p:sp>
        <p:nvSpPr>
          <p:cNvPr id="15" name="Shape 13"/>
          <p:cNvSpPr/>
          <p:nvPr/>
        </p:nvSpPr>
        <p:spPr>
          <a:xfrm>
            <a:off x="2728341" y="2442754"/>
            <a:ext cx="300609" cy="391886"/>
          </a:xfrm>
          <a:prstGeom prst="rect">
            <a:avLst/>
          </a:prstGeom>
          <a:solidFill>
            <a:srgbClr val="0E9F9A"/>
          </a:solidFill>
          <a:ln/>
        </p:spPr>
      </p:sp>
      <p:sp>
        <p:nvSpPr>
          <p:cNvPr id="16" name="Shape 14"/>
          <p:cNvSpPr/>
          <p:nvPr/>
        </p:nvSpPr>
        <p:spPr>
          <a:xfrm>
            <a:off x="3102102" y="2364377"/>
            <a:ext cx="300609" cy="470263"/>
          </a:xfrm>
          <a:prstGeom prst="rect">
            <a:avLst/>
          </a:prstGeom>
          <a:solidFill>
            <a:srgbClr val="0E9F9A"/>
          </a:solidFill>
          <a:ln/>
        </p:spPr>
      </p:sp>
      <p:sp>
        <p:nvSpPr>
          <p:cNvPr id="17" name="Shape 15"/>
          <p:cNvSpPr/>
          <p:nvPr/>
        </p:nvSpPr>
        <p:spPr>
          <a:xfrm>
            <a:off x="3475863" y="2286000"/>
            <a:ext cx="300609" cy="548640"/>
          </a:xfrm>
          <a:prstGeom prst="rect">
            <a:avLst/>
          </a:prstGeom>
          <a:solidFill>
            <a:srgbClr val="0E9F9A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2980944"/>
            <a:ext cx="2990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i="1" dirty="0">
                <a:solidFill>
                  <a:srgbClr val="0B6E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Trend is trustworthy → adjust the rate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343400" y="1828800"/>
            <a:ext cx="3502152" cy="1755648"/>
          </a:xfrm>
          <a:prstGeom prst="rect">
            <a:avLst/>
          </a:prstGeom>
          <a:solidFill>
            <a:srgbClr val="F2F6F9"/>
          </a:solidFill>
          <a:ln/>
          <a:effectLst>
            <a:outerShdw sx="100000" sy="100000" kx="0" ky="0" algn="bl" rotWithShape="0" blurRad="88900" dist="25400" dir="8100000">
              <a:srgbClr val="1A3A52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343400" y="1828800"/>
            <a:ext cx="64008" cy="1755648"/>
          </a:xfrm>
          <a:prstGeom prst="rect">
            <a:avLst/>
          </a:prstGeom>
          <a:solidFill>
            <a:srgbClr val="2C4A68"/>
          </a:solidFill>
          <a:ln/>
        </p:spPr>
      </p:sp>
      <p:sp>
        <p:nvSpPr>
          <p:cNvPr id="21" name="Text 19"/>
          <p:cNvSpPr/>
          <p:nvPr/>
        </p:nvSpPr>
        <p:spPr>
          <a:xfrm>
            <a:off x="4599432" y="1938528"/>
            <a:ext cx="2990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28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Step-change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636008" y="2743200"/>
            <a:ext cx="300609" cy="91440"/>
          </a:xfrm>
          <a:prstGeom prst="rect">
            <a:avLst/>
          </a:prstGeom>
          <a:solidFill>
            <a:srgbClr val="2C4A68"/>
          </a:solidFill>
          <a:ln/>
        </p:spPr>
      </p:sp>
      <p:sp>
        <p:nvSpPr>
          <p:cNvPr id="23" name="Shape 21"/>
          <p:cNvSpPr/>
          <p:nvPr/>
        </p:nvSpPr>
        <p:spPr>
          <a:xfrm>
            <a:off x="5009769" y="2743200"/>
            <a:ext cx="300609" cy="91440"/>
          </a:xfrm>
          <a:prstGeom prst="rect">
            <a:avLst/>
          </a:prstGeom>
          <a:solidFill>
            <a:srgbClr val="2C4A68"/>
          </a:solidFill>
          <a:ln/>
        </p:spPr>
      </p:sp>
      <p:sp>
        <p:nvSpPr>
          <p:cNvPr id="24" name="Shape 22"/>
          <p:cNvSpPr/>
          <p:nvPr/>
        </p:nvSpPr>
        <p:spPr>
          <a:xfrm>
            <a:off x="5383530" y="2743200"/>
            <a:ext cx="300609" cy="91440"/>
          </a:xfrm>
          <a:prstGeom prst="rect">
            <a:avLst/>
          </a:prstGeom>
          <a:solidFill>
            <a:srgbClr val="2C4A68"/>
          </a:solidFill>
          <a:ln/>
        </p:spPr>
      </p:sp>
      <p:sp>
        <p:nvSpPr>
          <p:cNvPr id="25" name="Shape 23"/>
          <p:cNvSpPr/>
          <p:nvPr/>
        </p:nvSpPr>
        <p:spPr>
          <a:xfrm>
            <a:off x="5757291" y="2743200"/>
            <a:ext cx="300609" cy="91440"/>
          </a:xfrm>
          <a:prstGeom prst="rect">
            <a:avLst/>
          </a:prstGeom>
          <a:solidFill>
            <a:srgbClr val="2C4A68"/>
          </a:solidFill>
          <a:ln/>
        </p:spPr>
      </p:sp>
      <p:sp>
        <p:nvSpPr>
          <p:cNvPr id="26" name="Shape 24"/>
          <p:cNvSpPr/>
          <p:nvPr/>
        </p:nvSpPr>
        <p:spPr>
          <a:xfrm>
            <a:off x="6131052" y="2377440"/>
            <a:ext cx="300609" cy="457200"/>
          </a:xfrm>
          <a:prstGeom prst="rect">
            <a:avLst/>
          </a:prstGeom>
          <a:solidFill>
            <a:srgbClr val="2C4A68"/>
          </a:solidFill>
          <a:ln/>
        </p:spPr>
      </p:sp>
      <p:sp>
        <p:nvSpPr>
          <p:cNvPr id="27" name="Shape 25"/>
          <p:cNvSpPr/>
          <p:nvPr/>
        </p:nvSpPr>
        <p:spPr>
          <a:xfrm>
            <a:off x="6504813" y="2377440"/>
            <a:ext cx="300609" cy="457200"/>
          </a:xfrm>
          <a:prstGeom prst="rect">
            <a:avLst/>
          </a:prstGeom>
          <a:solidFill>
            <a:srgbClr val="2C4A68"/>
          </a:solidFill>
          <a:ln/>
        </p:spPr>
      </p:sp>
      <p:sp>
        <p:nvSpPr>
          <p:cNvPr id="28" name="Shape 26"/>
          <p:cNvSpPr/>
          <p:nvPr/>
        </p:nvSpPr>
        <p:spPr>
          <a:xfrm>
            <a:off x="6878574" y="2377440"/>
            <a:ext cx="300609" cy="457200"/>
          </a:xfrm>
          <a:prstGeom prst="rect">
            <a:avLst/>
          </a:prstGeom>
          <a:solidFill>
            <a:srgbClr val="2C4A68"/>
          </a:solidFill>
          <a:ln/>
        </p:spPr>
      </p:sp>
      <p:sp>
        <p:nvSpPr>
          <p:cNvPr id="29" name="Shape 27"/>
          <p:cNvSpPr/>
          <p:nvPr/>
        </p:nvSpPr>
        <p:spPr>
          <a:xfrm>
            <a:off x="7252335" y="2286000"/>
            <a:ext cx="300609" cy="548640"/>
          </a:xfrm>
          <a:prstGeom prst="rect">
            <a:avLst/>
          </a:prstGeom>
          <a:solidFill>
            <a:srgbClr val="2C4A68"/>
          </a:solidFill>
          <a:ln/>
        </p:spPr>
      </p:sp>
      <p:sp>
        <p:nvSpPr>
          <p:cNvPr id="30" name="Text 28"/>
          <p:cNvSpPr/>
          <p:nvPr/>
        </p:nvSpPr>
        <p:spPr>
          <a:xfrm>
            <a:off x="4599432" y="2980944"/>
            <a:ext cx="2990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i="1" dirty="0">
                <a:solidFill>
                  <a:srgbClr val="2C4A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 the recent regime, not the 12-yr mean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8119872" y="1828800"/>
            <a:ext cx="3502152" cy="1755648"/>
          </a:xfrm>
          <a:prstGeom prst="rect">
            <a:avLst/>
          </a:prstGeom>
          <a:solidFill>
            <a:srgbClr val="F2F6F9"/>
          </a:solidFill>
          <a:ln/>
          <a:effectLst>
            <a:outerShdw sx="100000" sy="100000" kx="0" ky="0" algn="bl" rotWithShape="0" blurRad="88900" dist="25400" dir="8100000">
              <a:srgbClr val="1A3A52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119872" y="1828800"/>
            <a:ext cx="64008" cy="1755648"/>
          </a:xfrm>
          <a:prstGeom prst="rect">
            <a:avLst/>
          </a:prstGeom>
          <a:solidFill>
            <a:srgbClr val="9A6B1F"/>
          </a:solidFill>
          <a:ln/>
        </p:spPr>
      </p:sp>
      <p:sp>
        <p:nvSpPr>
          <p:cNvPr id="33" name="Text 31"/>
          <p:cNvSpPr/>
          <p:nvPr/>
        </p:nvSpPr>
        <p:spPr>
          <a:xfrm>
            <a:off x="8375904" y="1938528"/>
            <a:ext cx="2990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28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Episodic / spiky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8412480" y="2712720"/>
            <a:ext cx="300609" cy="121920"/>
          </a:xfrm>
          <a:prstGeom prst="rect">
            <a:avLst/>
          </a:prstGeom>
          <a:solidFill>
            <a:srgbClr val="9A6B1F"/>
          </a:solidFill>
          <a:ln/>
        </p:spPr>
      </p:sp>
      <p:sp>
        <p:nvSpPr>
          <p:cNvPr id="35" name="Shape 33"/>
          <p:cNvSpPr/>
          <p:nvPr/>
        </p:nvSpPr>
        <p:spPr>
          <a:xfrm>
            <a:off x="8786241" y="2712720"/>
            <a:ext cx="300609" cy="121920"/>
          </a:xfrm>
          <a:prstGeom prst="rect">
            <a:avLst/>
          </a:prstGeom>
          <a:solidFill>
            <a:srgbClr val="9A6B1F"/>
          </a:solidFill>
          <a:ln/>
        </p:spPr>
      </p:sp>
      <p:sp>
        <p:nvSpPr>
          <p:cNvPr id="36" name="Shape 34"/>
          <p:cNvSpPr/>
          <p:nvPr/>
        </p:nvSpPr>
        <p:spPr>
          <a:xfrm>
            <a:off x="9160002" y="2712720"/>
            <a:ext cx="300609" cy="121920"/>
          </a:xfrm>
          <a:prstGeom prst="rect">
            <a:avLst/>
          </a:prstGeom>
          <a:solidFill>
            <a:srgbClr val="9A6B1F"/>
          </a:solidFill>
          <a:ln/>
        </p:spPr>
      </p:sp>
      <p:sp>
        <p:nvSpPr>
          <p:cNvPr id="37" name="Shape 35"/>
          <p:cNvSpPr/>
          <p:nvPr/>
        </p:nvSpPr>
        <p:spPr>
          <a:xfrm>
            <a:off x="9533763" y="2286000"/>
            <a:ext cx="300609" cy="548640"/>
          </a:xfrm>
          <a:prstGeom prst="rect">
            <a:avLst/>
          </a:prstGeom>
          <a:solidFill>
            <a:srgbClr val="9A6B1F"/>
          </a:solidFill>
          <a:ln/>
        </p:spPr>
      </p:sp>
      <p:sp>
        <p:nvSpPr>
          <p:cNvPr id="38" name="Shape 36"/>
          <p:cNvSpPr/>
          <p:nvPr/>
        </p:nvSpPr>
        <p:spPr>
          <a:xfrm>
            <a:off x="9907524" y="2712720"/>
            <a:ext cx="300609" cy="121920"/>
          </a:xfrm>
          <a:prstGeom prst="rect">
            <a:avLst/>
          </a:prstGeom>
          <a:solidFill>
            <a:srgbClr val="9A6B1F"/>
          </a:solidFill>
          <a:ln/>
        </p:spPr>
      </p:sp>
      <p:sp>
        <p:nvSpPr>
          <p:cNvPr id="39" name="Shape 37"/>
          <p:cNvSpPr/>
          <p:nvPr/>
        </p:nvSpPr>
        <p:spPr>
          <a:xfrm>
            <a:off x="10281285" y="2712720"/>
            <a:ext cx="300609" cy="121920"/>
          </a:xfrm>
          <a:prstGeom prst="rect">
            <a:avLst/>
          </a:prstGeom>
          <a:solidFill>
            <a:srgbClr val="9A6B1F"/>
          </a:solidFill>
          <a:ln/>
        </p:spPr>
      </p:sp>
      <p:sp>
        <p:nvSpPr>
          <p:cNvPr id="40" name="Shape 38"/>
          <p:cNvSpPr/>
          <p:nvPr/>
        </p:nvSpPr>
        <p:spPr>
          <a:xfrm>
            <a:off x="10655046" y="2651760"/>
            <a:ext cx="300609" cy="182880"/>
          </a:xfrm>
          <a:prstGeom prst="rect">
            <a:avLst/>
          </a:prstGeom>
          <a:solidFill>
            <a:srgbClr val="9A6B1F"/>
          </a:solidFill>
          <a:ln/>
        </p:spPr>
      </p:sp>
      <p:sp>
        <p:nvSpPr>
          <p:cNvPr id="41" name="Shape 39"/>
          <p:cNvSpPr/>
          <p:nvPr/>
        </p:nvSpPr>
        <p:spPr>
          <a:xfrm>
            <a:off x="11028807" y="2712720"/>
            <a:ext cx="300609" cy="121920"/>
          </a:xfrm>
          <a:prstGeom prst="rect">
            <a:avLst/>
          </a:prstGeom>
          <a:solidFill>
            <a:srgbClr val="9A6B1F"/>
          </a:solidFill>
          <a:ln/>
        </p:spPr>
      </p:sp>
      <p:sp>
        <p:nvSpPr>
          <p:cNvPr id="42" name="Text 40"/>
          <p:cNvSpPr/>
          <p:nvPr/>
        </p:nvSpPr>
        <p:spPr>
          <a:xfrm>
            <a:off x="8375904" y="2980944"/>
            <a:ext cx="2990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i="1" dirty="0">
                <a:solidFill>
                  <a:srgbClr val="9A6B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Don't trend it → needs a hazard read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66928" y="3822192"/>
            <a:ext cx="11055096" cy="365760"/>
          </a:xfrm>
          <a:prstGeom prst="rect">
            <a:avLst/>
          </a:prstGeom>
          <a:solidFill>
            <a:srgbClr val="0E2233"/>
          </a:solidFill>
          <a:ln/>
        </p:spPr>
      </p:sp>
      <p:sp>
        <p:nvSpPr>
          <p:cNvPr id="44" name="Text 42"/>
          <p:cNvSpPr/>
          <p:nvPr/>
        </p:nvSpPr>
        <p:spPr>
          <a:xfrm>
            <a:off x="731520" y="382219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Shape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3584448" y="382219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Routes to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961888" y="3822192"/>
            <a:ext cx="5477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we do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66928" y="4187952"/>
            <a:ext cx="11055096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8" name="Shape 46"/>
          <p:cNvSpPr/>
          <p:nvPr/>
        </p:nvSpPr>
        <p:spPr>
          <a:xfrm>
            <a:off x="566928" y="4187952"/>
            <a:ext cx="54864" cy="365760"/>
          </a:xfrm>
          <a:prstGeom prst="rect">
            <a:avLst/>
          </a:prstGeom>
          <a:solidFill>
            <a:srgbClr val="0E9F9A"/>
          </a:solidFill>
          <a:ln/>
        </p:spPr>
      </p:sp>
      <p:sp>
        <p:nvSpPr>
          <p:cNvPr id="49" name="Text 47"/>
          <p:cNvSpPr/>
          <p:nvPr/>
        </p:nvSpPr>
        <p:spPr>
          <a:xfrm>
            <a:off x="731520" y="418795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1328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Smooth / step-change</a:t>
            </a:r>
            <a:endParaRPr lang="en-US" sz="960" dirty="0"/>
          </a:p>
        </p:txBody>
      </p:sp>
      <p:sp>
        <p:nvSpPr>
          <p:cNvPr id="50" name="Text 48"/>
          <p:cNvSpPr/>
          <p:nvPr/>
        </p:nvSpPr>
        <p:spPr>
          <a:xfrm>
            <a:off x="3584448" y="41879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0E9F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frequency_lambda</a:t>
            </a:r>
            <a:endParaRPr lang="en-US" sz="880" dirty="0"/>
          </a:p>
        </p:txBody>
      </p:sp>
      <p:sp>
        <p:nvSpPr>
          <p:cNvPr id="51" name="Text 49"/>
          <p:cNvSpPr/>
          <p:nvPr/>
        </p:nvSpPr>
        <p:spPr>
          <a:xfrm>
            <a:off x="5961888" y="4187952"/>
            <a:ext cx="5477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4E60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Blend λ toward the trend or recent regime</a:t>
            </a:r>
            <a:endParaRPr lang="en-US" sz="940" dirty="0"/>
          </a:p>
        </p:txBody>
      </p:sp>
      <p:sp>
        <p:nvSpPr>
          <p:cNvPr id="52" name="Shape 50"/>
          <p:cNvSpPr/>
          <p:nvPr/>
        </p:nvSpPr>
        <p:spPr>
          <a:xfrm>
            <a:off x="566928" y="4553712"/>
            <a:ext cx="11055096" cy="365760"/>
          </a:xfrm>
          <a:prstGeom prst="rect">
            <a:avLst/>
          </a:prstGeom>
          <a:solidFill>
            <a:srgbClr val="F2F6F9"/>
          </a:solidFill>
          <a:ln/>
        </p:spPr>
      </p:sp>
      <p:sp>
        <p:nvSpPr>
          <p:cNvPr id="53" name="Shape 51"/>
          <p:cNvSpPr/>
          <p:nvPr/>
        </p:nvSpPr>
        <p:spPr>
          <a:xfrm>
            <a:off x="566928" y="4553712"/>
            <a:ext cx="54864" cy="365760"/>
          </a:xfrm>
          <a:prstGeom prst="rect">
            <a:avLst/>
          </a:prstGeom>
          <a:solidFill>
            <a:srgbClr val="9A6B1F"/>
          </a:solidFill>
          <a:ln/>
        </p:spPr>
      </p:sp>
      <p:sp>
        <p:nvSpPr>
          <p:cNvPr id="54" name="Text 52"/>
          <p:cNvSpPr/>
          <p:nvPr/>
        </p:nvSpPr>
        <p:spPr>
          <a:xfrm>
            <a:off x="731520" y="455371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1328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Volatile trend</a:t>
            </a:r>
            <a:endParaRPr lang="en-US" sz="960" dirty="0"/>
          </a:p>
        </p:txBody>
      </p:sp>
      <p:sp>
        <p:nvSpPr>
          <p:cNvPr id="55" name="Text 53"/>
          <p:cNvSpPr/>
          <p:nvPr/>
        </p:nvSpPr>
        <p:spPr>
          <a:xfrm>
            <a:off x="3584448" y="455371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A6B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frequency + load</a:t>
            </a:r>
            <a:endParaRPr lang="en-US" sz="880" dirty="0"/>
          </a:p>
        </p:txBody>
      </p:sp>
      <p:sp>
        <p:nvSpPr>
          <p:cNvPr id="56" name="Text 54"/>
          <p:cNvSpPr/>
          <p:nvPr/>
        </p:nvSpPr>
        <p:spPr>
          <a:xfrm>
            <a:off x="5961888" y="4553712"/>
            <a:ext cx="5477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4E60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Small λ move plus an uncertainty review</a:t>
            </a:r>
            <a:endParaRPr lang="en-US" sz="940" dirty="0"/>
          </a:p>
        </p:txBody>
      </p:sp>
      <p:sp>
        <p:nvSpPr>
          <p:cNvPr id="57" name="Shape 55"/>
          <p:cNvSpPr/>
          <p:nvPr/>
        </p:nvSpPr>
        <p:spPr>
          <a:xfrm>
            <a:off x="566928" y="4919472"/>
            <a:ext cx="11055096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8" name="Shape 56"/>
          <p:cNvSpPr/>
          <p:nvPr/>
        </p:nvSpPr>
        <p:spPr>
          <a:xfrm>
            <a:off x="566928" y="4919472"/>
            <a:ext cx="54864" cy="365760"/>
          </a:xfrm>
          <a:prstGeom prst="rect">
            <a:avLst/>
          </a:prstGeom>
          <a:solidFill>
            <a:srgbClr val="9A6B1F"/>
          </a:solidFill>
          <a:ln/>
        </p:spPr>
      </p:sp>
      <p:sp>
        <p:nvSpPr>
          <p:cNvPr id="59" name="Text 57"/>
          <p:cNvSpPr/>
          <p:nvPr/>
        </p:nvSpPr>
        <p:spPr>
          <a:xfrm>
            <a:off x="731520" y="491947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1328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Stable noisy</a:t>
            </a:r>
            <a:endParaRPr lang="en-US" sz="960" dirty="0"/>
          </a:p>
        </p:txBody>
      </p:sp>
      <p:sp>
        <p:nvSpPr>
          <p:cNvPr id="60" name="Text 58"/>
          <p:cNvSpPr/>
          <p:nvPr/>
        </p:nvSpPr>
        <p:spPr>
          <a:xfrm>
            <a:off x="3584448" y="491947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A6B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load_margin</a:t>
            </a:r>
            <a:endParaRPr lang="en-US" sz="880" dirty="0"/>
          </a:p>
        </p:txBody>
      </p:sp>
      <p:sp>
        <p:nvSpPr>
          <p:cNvPr id="61" name="Text 59"/>
          <p:cNvSpPr/>
          <p:nvPr/>
        </p:nvSpPr>
        <p:spPr>
          <a:xfrm>
            <a:off x="5961888" y="4919472"/>
            <a:ext cx="5477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4E60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Keep λ; consider an uncertainty load</a:t>
            </a:r>
            <a:endParaRPr lang="en-US" sz="940" dirty="0"/>
          </a:p>
        </p:txBody>
      </p:sp>
      <p:sp>
        <p:nvSpPr>
          <p:cNvPr id="62" name="Shape 60"/>
          <p:cNvSpPr/>
          <p:nvPr/>
        </p:nvSpPr>
        <p:spPr>
          <a:xfrm>
            <a:off x="566928" y="5285232"/>
            <a:ext cx="11055096" cy="365760"/>
          </a:xfrm>
          <a:prstGeom prst="rect">
            <a:avLst/>
          </a:prstGeom>
          <a:solidFill>
            <a:srgbClr val="F2F6F9"/>
          </a:solidFill>
          <a:ln/>
        </p:spPr>
      </p:sp>
      <p:sp>
        <p:nvSpPr>
          <p:cNvPr id="63" name="Shape 61"/>
          <p:cNvSpPr/>
          <p:nvPr/>
        </p:nvSpPr>
        <p:spPr>
          <a:xfrm>
            <a:off x="566928" y="5285232"/>
            <a:ext cx="54864" cy="365760"/>
          </a:xfrm>
          <a:prstGeom prst="rect">
            <a:avLst/>
          </a:prstGeom>
          <a:solidFill>
            <a:srgbClr val="2C4A68"/>
          </a:solidFill>
          <a:ln/>
        </p:spPr>
      </p:sp>
      <p:sp>
        <p:nvSpPr>
          <p:cNvPr id="64" name="Text 62"/>
          <p:cNvSpPr/>
          <p:nvPr/>
        </p:nvSpPr>
        <p:spPr>
          <a:xfrm>
            <a:off x="731520" y="528523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1328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Episodic / spiky</a:t>
            </a:r>
            <a:endParaRPr lang="en-US" sz="960" dirty="0"/>
          </a:p>
        </p:txBody>
      </p:sp>
      <p:sp>
        <p:nvSpPr>
          <p:cNvPr id="65" name="Text 63"/>
          <p:cNvSpPr/>
          <p:nvPr/>
        </p:nvSpPr>
        <p:spPr>
          <a:xfrm>
            <a:off x="3584448" y="52852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2C4A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hazard_context</a:t>
            </a:r>
            <a:endParaRPr lang="en-US" sz="880" dirty="0"/>
          </a:p>
        </p:txBody>
      </p:sp>
      <p:sp>
        <p:nvSpPr>
          <p:cNvPr id="66" name="Text 64"/>
          <p:cNvSpPr/>
          <p:nvPr/>
        </p:nvSpPr>
        <p:spPr>
          <a:xfrm>
            <a:off x="5961888" y="5285232"/>
            <a:ext cx="5477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4E60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Keep λ until a hazard layer explains it</a:t>
            </a:r>
            <a:endParaRPr lang="en-US" sz="940" dirty="0"/>
          </a:p>
        </p:txBody>
      </p:sp>
      <p:sp>
        <p:nvSpPr>
          <p:cNvPr id="67" name="Shape 65"/>
          <p:cNvSpPr/>
          <p:nvPr/>
        </p:nvSpPr>
        <p:spPr>
          <a:xfrm>
            <a:off x="566928" y="5650992"/>
            <a:ext cx="11055096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8" name="Shape 66"/>
          <p:cNvSpPr/>
          <p:nvPr/>
        </p:nvSpPr>
        <p:spPr>
          <a:xfrm>
            <a:off x="566928" y="5650992"/>
            <a:ext cx="54864" cy="365760"/>
          </a:xfrm>
          <a:prstGeom prst="rect">
            <a:avLst/>
          </a:prstGeom>
          <a:solidFill>
            <a:srgbClr val="5C6B78"/>
          </a:solidFill>
          <a:ln/>
        </p:spPr>
      </p:sp>
      <p:sp>
        <p:nvSpPr>
          <p:cNvPr id="69" name="Text 67"/>
          <p:cNvSpPr/>
          <p:nvPr/>
        </p:nvSpPr>
        <p:spPr>
          <a:xfrm>
            <a:off x="731520" y="565099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1328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Sparse history</a:t>
            </a:r>
            <a:endParaRPr lang="en-US" sz="960" dirty="0"/>
          </a:p>
        </p:txBody>
      </p:sp>
      <p:sp>
        <p:nvSpPr>
          <p:cNvPr id="70" name="Text 68"/>
          <p:cNvSpPr/>
          <p:nvPr/>
        </p:nvSpPr>
        <p:spPr>
          <a:xfrm>
            <a:off x="3584448" y="565099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C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quote_gate</a:t>
            </a:r>
            <a:endParaRPr lang="en-US" sz="880" dirty="0"/>
          </a:p>
        </p:txBody>
      </p:sp>
      <p:sp>
        <p:nvSpPr>
          <p:cNvPr id="71" name="Text 69"/>
          <p:cNvSpPr/>
          <p:nvPr/>
        </p:nvSpPr>
        <p:spPr>
          <a:xfrm>
            <a:off x="5961888" y="5650992"/>
            <a:ext cx="5477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4E60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Don't trend-adjust; credibility / no-quote</a:t>
            </a:r>
            <a:endParaRPr lang="en-US" sz="940" dirty="0"/>
          </a:p>
        </p:txBody>
      </p:sp>
      <p:sp>
        <p:nvSpPr>
          <p:cNvPr id="72" name="Text 70"/>
          <p:cNvSpPr/>
          <p:nvPr/>
        </p:nvSpPr>
        <p:spPr>
          <a:xfrm>
            <a:off x="566928" y="6108192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i="1" dirty="0">
                <a:solidFill>
                  <a:srgbClr val="8295A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Labels are rule-based and auditable — no black-box forecast. The label names the mechanism; only the frequency lane produces a candidate rate (next page).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566928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295A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InfraSure  ·  Outage Pricing Methodology  ·  Internal — for advisor review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11073384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5A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E9F9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LAYER 2B · SHADOW Λ PRICING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5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328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Turning a trusted trend into a candidate price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9838944" y="676656"/>
            <a:ext cx="1783080" cy="274320"/>
          </a:xfrm>
          <a:prstGeom prst="roundRect">
            <a:avLst>
              <a:gd name="adj" fmla="val 50000"/>
            </a:avLst>
          </a:prstGeom>
          <a:solidFill>
            <a:srgbClr val="F6EBD2"/>
          </a:solidFill>
          <a:ln/>
        </p:spPr>
      </p:sp>
      <p:sp>
        <p:nvSpPr>
          <p:cNvPr id="5" name="Text 3"/>
          <p:cNvSpPr/>
          <p:nvPr/>
        </p:nvSpPr>
        <p:spPr>
          <a:xfrm>
            <a:off x="9838944" y="676656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9A6B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SHADOW · NOT ACTIVE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66928" y="1481328"/>
            <a:ext cx="5760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E60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Only for counties the router sends to the frequency lane,  </a:t>
            </a:r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328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 compute a candidate rate and show the price pressure it implies — without changing today's premium. Frequency first; the factor is only the shared expression.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66928" y="2578608"/>
            <a:ext cx="5760720" cy="457200"/>
          </a:xfrm>
          <a:prstGeom prst="rect">
            <a:avLst/>
          </a:prstGeom>
          <a:solidFill>
            <a:srgbClr val="0E2233"/>
          </a:solidFill>
          <a:ln/>
        </p:spPr>
      </p:sp>
      <p:sp>
        <p:nvSpPr>
          <p:cNvPr id="8" name="Text 6"/>
          <p:cNvSpPr/>
          <p:nvPr/>
        </p:nvSpPr>
        <p:spPr>
          <a:xfrm>
            <a:off x="704088" y="257860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AF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factor = λ_candidate ÷ λ_v0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66928" y="3127248"/>
            <a:ext cx="5760720" cy="457200"/>
          </a:xfrm>
          <a:prstGeom prst="rect">
            <a:avLst/>
          </a:prstGeom>
          <a:solidFill>
            <a:srgbClr val="0E2233"/>
          </a:solidFill>
          <a:ln/>
        </p:spPr>
      </p:sp>
      <p:sp>
        <p:nvSpPr>
          <p:cNvPr id="10" name="Text 8"/>
          <p:cNvSpPr/>
          <p:nvPr/>
        </p:nvSpPr>
        <p:spPr>
          <a:xfrm>
            <a:off x="704088" y="312724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AF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premium_effect = premium_v0 × factor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66928" y="384048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B6E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GUARDRAILS (safety rails for a review artifact, not final actuarial selections)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66928" y="4160520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E60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Uplift cap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90288" y="416052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328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2.50×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6928" y="4507992"/>
            <a:ext cx="5760720" cy="0"/>
          </a:xfrm>
          <a:prstGeom prst="line">
            <a:avLst/>
          </a:prstGeom>
          <a:noFill/>
          <a:ln w="12700">
            <a:solidFill>
              <a:srgbClr val="D8E2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4553712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E60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Normal discount floor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90288" y="4553712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328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0.75×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66928" y="4901184"/>
            <a:ext cx="5760720" cy="0"/>
          </a:xfrm>
          <a:prstGeom prst="line">
            <a:avLst/>
          </a:prstGeom>
          <a:noFill/>
          <a:ln w="12700">
            <a:solidFill>
              <a:srgbClr val="D8E2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4946904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E60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Step-down discount floor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90288" y="4946904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328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0.80×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66928" y="5294376"/>
            <a:ext cx="5760720" cy="0"/>
          </a:xfrm>
          <a:prstGeom prst="line">
            <a:avLst/>
          </a:prstGeom>
          <a:noFill/>
          <a:ln w="12700">
            <a:solidFill>
              <a:srgbClr val="D8E2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5340096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E60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Volatile-improving floor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90288" y="534009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328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0.90×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66928" y="5687568"/>
            <a:ext cx="5760720" cy="0"/>
          </a:xfrm>
          <a:prstGeom prst="line">
            <a:avLst/>
          </a:prstGeom>
          <a:noFill/>
          <a:ln w="12700">
            <a:solidFill>
              <a:srgbClr val="D8E2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720840" y="1481328"/>
            <a:ext cx="4901184" cy="4343400"/>
          </a:xfrm>
          <a:prstGeom prst="rect">
            <a:avLst/>
          </a:prstGeom>
          <a:solidFill>
            <a:srgbClr val="0E2233"/>
          </a:solidFill>
          <a:ln/>
          <a:effectLst>
            <a:outerShdw sx="100000" sy="100000" kx="0" ky="0" algn="bl" rotWithShape="0" blurRad="88900" dist="25400" dir="8100000">
              <a:srgbClr val="1A3A52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720840" y="1481328"/>
            <a:ext cx="64008" cy="4343400"/>
          </a:xfrm>
          <a:prstGeom prst="rect">
            <a:avLst/>
          </a:prstGeom>
          <a:solidFill>
            <a:srgbClr val="0E9F9A"/>
          </a:solidFill>
          <a:ln/>
        </p:spPr>
      </p:sp>
      <p:sp>
        <p:nvSpPr>
          <p:cNvPr id="26" name="Text 24"/>
          <p:cNvSpPr/>
          <p:nvPr/>
        </p:nvSpPr>
        <p:spPr>
          <a:xfrm>
            <a:off x="6995160" y="171907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0E9F9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DASHBOARD READ · ONE COUNTY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995160" y="21945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B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v0 λ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098280" y="21945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12.4 events/yr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995160" y="2688336"/>
            <a:ext cx="4480560" cy="0"/>
          </a:xfrm>
          <a:prstGeom prst="line">
            <a:avLst/>
          </a:prstGeom>
          <a:noFill/>
          <a:ln w="12700">
            <a:solidFill>
              <a:srgbClr val="1A3A5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95160" y="27432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B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shadow λ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098280" y="27432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18.7 events/yr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995160" y="3236976"/>
            <a:ext cx="4480560" cy="0"/>
          </a:xfrm>
          <a:prstGeom prst="line">
            <a:avLst/>
          </a:prstGeom>
          <a:noFill/>
          <a:ln w="12700">
            <a:solidFill>
              <a:srgbClr val="1A3A5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95160" y="32918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B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premium pressure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098280" y="32918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E9F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+51%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995160" y="3785616"/>
            <a:ext cx="4480560" cy="0"/>
          </a:xfrm>
          <a:prstGeom prst="line">
            <a:avLst/>
          </a:prstGeom>
          <a:noFill/>
          <a:ln w="12700">
            <a:solidFill>
              <a:srgbClr val="1A3A5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95160" y="38404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B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9098280" y="38404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trend_blend_up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995160" y="4334256"/>
            <a:ext cx="4480560" cy="0"/>
          </a:xfrm>
          <a:prstGeom prst="line">
            <a:avLst/>
          </a:prstGeom>
          <a:noFill/>
          <a:ln w="12700">
            <a:solidFill>
              <a:srgbClr val="1A3A5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995160" y="452628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C9DB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reason: smooth-worsening history supports blending toward the trend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995160" y="5074920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FB6C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Stays a review artifact until holdout-year backtests beat the v0 average. Episodic, stable-noisy and sparse counties get no automatic λ move.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66928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295A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InfraSure  ·  Outage Pricing Methodology  ·  Internal — for advisor review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11073384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5A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E9F9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LAYER 3 · TRIGGER SOURCE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5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328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Pricing source and trigger source are different problems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10204704" y="676656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E3EBF3"/>
          </a:solidFill>
          <a:ln/>
        </p:spPr>
      </p:sp>
      <p:sp>
        <p:nvSpPr>
          <p:cNvPr id="5" name="Text 3"/>
          <p:cNvSpPr/>
          <p:nvPr/>
        </p:nvSpPr>
        <p:spPr>
          <a:xfrm>
            <a:off x="10204704" y="67665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2C4A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 DISCUSSION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66928" y="1463040"/>
            <a:ext cx="110550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4E60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Pricing needs national, multi-year history (EAGLE-I). A trigger needs a live signal at insured sites only — so it scales with the book, not the nation.  </a:t>
            </a:r>
            <a:pPr indent="0" marL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1328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trigger must be objective, independent of the peril party, auditable, low-basis, and timely.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66928" y="2377440"/>
            <a:ext cx="3526536" cy="1481328"/>
          </a:xfrm>
          <a:prstGeom prst="rect">
            <a:avLst/>
          </a:prstGeom>
          <a:solidFill>
            <a:srgbClr val="F2F6F9"/>
          </a:solidFill>
          <a:ln/>
          <a:effectLst>
            <a:outerShdw sx="100000" sy="100000" kx="0" ky="0" algn="bl" rotWithShape="0" blurRad="88900" dist="25400" dir="8100000">
              <a:srgbClr val="1A3A52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66928" y="2377440"/>
            <a:ext cx="64008" cy="1481328"/>
          </a:xfrm>
          <a:prstGeom prst="rect">
            <a:avLst/>
          </a:prstGeom>
          <a:solidFill>
            <a:srgbClr val="0E9F9A"/>
          </a:solidFill>
          <a:ln/>
        </p:spPr>
      </p:sp>
      <p:sp>
        <p:nvSpPr>
          <p:cNvPr id="9" name="Shape 7"/>
          <p:cNvSpPr/>
          <p:nvPr/>
        </p:nvSpPr>
        <p:spPr>
          <a:xfrm>
            <a:off x="804672" y="2596896"/>
            <a:ext cx="420624" cy="420624"/>
          </a:xfrm>
          <a:prstGeom prst="ellipse">
            <a:avLst/>
          </a:prstGeom>
          <a:solidFill>
            <a:srgbClr val="0E9F9A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034" y="2706258"/>
            <a:ext cx="201900" cy="2019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353312" y="2560320"/>
            <a:ext cx="2566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328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Premise sensor network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804672" y="3090672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DCF0EE"/>
          </a:solidFill>
          <a:ln/>
        </p:spPr>
      </p:sp>
      <p:sp>
        <p:nvSpPr>
          <p:cNvPr id="13" name="Text 10"/>
          <p:cNvSpPr/>
          <p:nvPr/>
        </p:nvSpPr>
        <p:spPr>
          <a:xfrm>
            <a:off x="804672" y="30906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0E9F9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PRIMARY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804672" y="3401568"/>
            <a:ext cx="3069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860" dirty="0">
                <a:solidFill>
                  <a:srgbClr val="4E60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Third-party in-home sensors (Ting-style). Premise-level, neutral, nothing to deploy. Segment-proven.</a:t>
            </a:r>
            <a:endParaRPr lang="en-US" sz="860" dirty="0"/>
          </a:p>
        </p:txBody>
      </p:sp>
      <p:sp>
        <p:nvSpPr>
          <p:cNvPr id="15" name="Shape 12"/>
          <p:cNvSpPr/>
          <p:nvPr/>
        </p:nvSpPr>
        <p:spPr>
          <a:xfrm>
            <a:off x="4331208" y="2377440"/>
            <a:ext cx="3526536" cy="1481328"/>
          </a:xfrm>
          <a:prstGeom prst="rect">
            <a:avLst/>
          </a:prstGeom>
          <a:solidFill>
            <a:srgbClr val="F2F6F9"/>
          </a:solidFill>
          <a:ln/>
          <a:effectLst>
            <a:outerShdw sx="100000" sy="100000" kx="0" ky="0" algn="bl" rotWithShape="0" blurRad="88900" dist="25400" dir="8100000">
              <a:srgbClr val="1A3A52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331208" y="2377440"/>
            <a:ext cx="64008" cy="1481328"/>
          </a:xfrm>
          <a:prstGeom prst="rect">
            <a:avLst/>
          </a:prstGeom>
          <a:solidFill>
            <a:srgbClr val="0E9F9A"/>
          </a:solidFill>
          <a:ln/>
        </p:spPr>
      </p:sp>
      <p:sp>
        <p:nvSpPr>
          <p:cNvPr id="17" name="Shape 14"/>
          <p:cNvSpPr/>
          <p:nvPr/>
        </p:nvSpPr>
        <p:spPr>
          <a:xfrm>
            <a:off x="4568952" y="2596896"/>
            <a:ext cx="420624" cy="420624"/>
          </a:xfrm>
          <a:prstGeom prst="ellipse">
            <a:avLst/>
          </a:prstGeom>
          <a:solidFill>
            <a:srgbClr val="0E9F9A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8314" y="2706258"/>
            <a:ext cx="201900" cy="20190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117592" y="2560320"/>
            <a:ext cx="2566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328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Customer-authorized AMI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4568952" y="3090672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DCF0EE"/>
          </a:solidFill>
          <a:ln/>
        </p:spPr>
      </p:sp>
      <p:sp>
        <p:nvSpPr>
          <p:cNvPr id="21" name="Text 17"/>
          <p:cNvSpPr/>
          <p:nvPr/>
        </p:nvSpPr>
        <p:spPr>
          <a:xfrm>
            <a:off x="4568952" y="30906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0E9F9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EVALUATE</a:t>
            </a:r>
            <a:endParaRPr lang="en-US" sz="750" dirty="0"/>
          </a:p>
        </p:txBody>
      </p:sp>
      <p:sp>
        <p:nvSpPr>
          <p:cNvPr id="22" name="Text 18"/>
          <p:cNvSpPr/>
          <p:nvPr/>
        </p:nvSpPr>
        <p:spPr>
          <a:xfrm>
            <a:off x="4568952" y="3401568"/>
            <a:ext cx="3069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860" dirty="0">
                <a:solidFill>
                  <a:srgbClr val="4E60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Smart-meter “last gasp” via consent (Green Button). Per-meter truth, neutral, no hardware.</a:t>
            </a:r>
            <a:endParaRPr lang="en-US" sz="860" dirty="0"/>
          </a:p>
        </p:txBody>
      </p:sp>
      <p:sp>
        <p:nvSpPr>
          <p:cNvPr id="23" name="Shape 19"/>
          <p:cNvSpPr/>
          <p:nvPr/>
        </p:nvSpPr>
        <p:spPr>
          <a:xfrm>
            <a:off x="8095488" y="2377440"/>
            <a:ext cx="3526536" cy="1481328"/>
          </a:xfrm>
          <a:prstGeom prst="rect">
            <a:avLst/>
          </a:prstGeom>
          <a:solidFill>
            <a:srgbClr val="F2F6F9"/>
          </a:solidFill>
          <a:ln/>
          <a:effectLst>
            <a:outerShdw sx="100000" sy="100000" kx="0" ky="0" algn="bl" rotWithShape="0" blurRad="88900" dist="25400" dir="8100000">
              <a:srgbClr val="1A3A52">
                <a:alpha val="1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8095488" y="2377440"/>
            <a:ext cx="64008" cy="1481328"/>
          </a:xfrm>
          <a:prstGeom prst="rect">
            <a:avLst/>
          </a:prstGeom>
          <a:solidFill>
            <a:srgbClr val="2C4A68"/>
          </a:solidFill>
          <a:ln/>
        </p:spPr>
      </p:sp>
      <p:sp>
        <p:nvSpPr>
          <p:cNvPr id="25" name="Shape 21"/>
          <p:cNvSpPr/>
          <p:nvPr/>
        </p:nvSpPr>
        <p:spPr>
          <a:xfrm>
            <a:off x="8333232" y="2596896"/>
            <a:ext cx="420624" cy="420624"/>
          </a:xfrm>
          <a:prstGeom prst="ellipse">
            <a:avLst/>
          </a:prstGeom>
          <a:solidFill>
            <a:srgbClr val="0E9F9A"/>
          </a:solidFill>
          <a:ln/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2594" y="2706258"/>
            <a:ext cx="201900" cy="20190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8881872" y="2560320"/>
            <a:ext cx="2566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328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Multi-source consensus</a:t>
            </a:r>
            <a:endParaRPr lang="en-US" sz="1150" dirty="0"/>
          </a:p>
        </p:txBody>
      </p:sp>
      <p:sp>
        <p:nvSpPr>
          <p:cNvPr id="28" name="Shape 23"/>
          <p:cNvSpPr/>
          <p:nvPr/>
        </p:nvSpPr>
        <p:spPr>
          <a:xfrm>
            <a:off x="8333232" y="3090672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E3EBF3"/>
          </a:solidFill>
          <a:ln/>
        </p:spPr>
      </p:sp>
      <p:sp>
        <p:nvSpPr>
          <p:cNvPr id="29" name="Text 24"/>
          <p:cNvSpPr/>
          <p:nvPr/>
        </p:nvSpPr>
        <p:spPr>
          <a:xfrm>
            <a:off x="8333232" y="30906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2C4A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ROBUSTNESS</a:t>
            </a:r>
            <a:endParaRPr lang="en-US" sz="750" dirty="0"/>
          </a:p>
        </p:txBody>
      </p:sp>
      <p:sp>
        <p:nvSpPr>
          <p:cNvPr id="30" name="Text 25"/>
          <p:cNvSpPr/>
          <p:nvPr/>
        </p:nvSpPr>
        <p:spPr>
          <a:xfrm>
            <a:off x="8333232" y="3401568"/>
            <a:ext cx="3069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860" dirty="0">
                <a:solidFill>
                  <a:srgbClr val="4E60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Fire only when two independent sources agree. Kills single-source manipulation; defensible to regulators.</a:t>
            </a:r>
            <a:endParaRPr lang="en-US" sz="860" dirty="0"/>
          </a:p>
        </p:txBody>
      </p:sp>
      <p:sp>
        <p:nvSpPr>
          <p:cNvPr id="31" name="Shape 26"/>
          <p:cNvSpPr/>
          <p:nvPr/>
        </p:nvSpPr>
        <p:spPr>
          <a:xfrm>
            <a:off x="566928" y="4041648"/>
            <a:ext cx="3526536" cy="1481328"/>
          </a:xfrm>
          <a:prstGeom prst="rect">
            <a:avLst/>
          </a:prstGeom>
          <a:solidFill>
            <a:srgbClr val="F2F6F9"/>
          </a:solidFill>
          <a:ln/>
          <a:effectLst>
            <a:outerShdw sx="100000" sy="100000" kx="0" ky="0" algn="bl" rotWithShape="0" blurRad="88900" dist="25400" dir="8100000">
              <a:srgbClr val="1A3A52">
                <a:alpha val="10000"/>
              </a:srgbClr>
            </a:outerShdw>
          </a:effectLst>
        </p:spPr>
      </p:sp>
      <p:sp>
        <p:nvSpPr>
          <p:cNvPr id="32" name="Shape 27"/>
          <p:cNvSpPr/>
          <p:nvPr/>
        </p:nvSpPr>
        <p:spPr>
          <a:xfrm>
            <a:off x="566928" y="4041648"/>
            <a:ext cx="64008" cy="1481328"/>
          </a:xfrm>
          <a:prstGeom prst="rect">
            <a:avLst/>
          </a:prstGeom>
          <a:solidFill>
            <a:srgbClr val="2C4A68"/>
          </a:solidFill>
          <a:ln/>
        </p:spPr>
      </p:sp>
      <p:sp>
        <p:nvSpPr>
          <p:cNvPr id="33" name="Shape 28"/>
          <p:cNvSpPr/>
          <p:nvPr/>
        </p:nvSpPr>
        <p:spPr>
          <a:xfrm>
            <a:off x="804672" y="4261104"/>
            <a:ext cx="420624" cy="420624"/>
          </a:xfrm>
          <a:prstGeom prst="ellipse">
            <a:avLst/>
          </a:prstGeom>
          <a:solidFill>
            <a:srgbClr val="0E9F9A"/>
          </a:solidFill>
          <a:ln/>
        </p:spPr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034" y="4370466"/>
            <a:ext cx="201900" cy="201900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1353312" y="4224528"/>
            <a:ext cx="2566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328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Contracted utility OMS</a:t>
            </a:r>
            <a:endParaRPr lang="en-US" sz="1150" dirty="0"/>
          </a:p>
        </p:txBody>
      </p:sp>
      <p:sp>
        <p:nvSpPr>
          <p:cNvPr id="36" name="Shape 30"/>
          <p:cNvSpPr/>
          <p:nvPr/>
        </p:nvSpPr>
        <p:spPr>
          <a:xfrm>
            <a:off x="804672" y="4754880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E3EBF3"/>
          </a:solidFill>
          <a:ln/>
        </p:spPr>
      </p:sp>
      <p:sp>
        <p:nvSpPr>
          <p:cNvPr id="37" name="Text 31"/>
          <p:cNvSpPr/>
          <p:nvPr/>
        </p:nvSpPr>
        <p:spPr>
          <a:xfrm>
            <a:off x="804672" y="4754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2C4A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STRONG (PILOT)</a:t>
            </a:r>
            <a:endParaRPr lang="en-US" sz="750" dirty="0"/>
          </a:p>
        </p:txBody>
      </p:sp>
      <p:sp>
        <p:nvSpPr>
          <p:cNvPr id="38" name="Text 32"/>
          <p:cNvSpPr/>
          <p:nvPr/>
        </p:nvSpPr>
        <p:spPr>
          <a:xfrm>
            <a:off x="804672" y="5065776"/>
            <a:ext cx="3069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860" dirty="0">
                <a:solidFill>
                  <a:srgbClr val="4E60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Best raw truth; premise/feeder grain. Audit terms in the contract manage the neutrality concern.</a:t>
            </a:r>
            <a:endParaRPr lang="en-US" sz="860" dirty="0"/>
          </a:p>
        </p:txBody>
      </p:sp>
      <p:sp>
        <p:nvSpPr>
          <p:cNvPr id="39" name="Shape 33"/>
          <p:cNvSpPr/>
          <p:nvPr/>
        </p:nvSpPr>
        <p:spPr>
          <a:xfrm>
            <a:off x="4331208" y="4041648"/>
            <a:ext cx="3526536" cy="1481328"/>
          </a:xfrm>
          <a:prstGeom prst="rect">
            <a:avLst/>
          </a:prstGeom>
          <a:solidFill>
            <a:srgbClr val="F2F6F9"/>
          </a:solidFill>
          <a:ln/>
          <a:effectLst>
            <a:outerShdw sx="100000" sy="100000" kx="0" ky="0" algn="bl" rotWithShape="0" blurRad="88900" dist="25400" dir="8100000">
              <a:srgbClr val="1A3A52">
                <a:alpha val="10000"/>
              </a:srgbClr>
            </a:outerShdw>
          </a:effectLst>
        </p:spPr>
      </p:sp>
      <p:sp>
        <p:nvSpPr>
          <p:cNvPr id="40" name="Shape 34"/>
          <p:cNvSpPr/>
          <p:nvPr/>
        </p:nvSpPr>
        <p:spPr>
          <a:xfrm>
            <a:off x="4331208" y="4041648"/>
            <a:ext cx="64008" cy="1481328"/>
          </a:xfrm>
          <a:prstGeom prst="rect">
            <a:avLst/>
          </a:prstGeom>
          <a:solidFill>
            <a:srgbClr val="5C6B78"/>
          </a:solidFill>
          <a:ln/>
        </p:spPr>
      </p:sp>
      <p:sp>
        <p:nvSpPr>
          <p:cNvPr id="41" name="Shape 35"/>
          <p:cNvSpPr/>
          <p:nvPr/>
        </p:nvSpPr>
        <p:spPr>
          <a:xfrm>
            <a:off x="4568952" y="4261104"/>
            <a:ext cx="420624" cy="420624"/>
          </a:xfrm>
          <a:prstGeom prst="ellipse">
            <a:avLst/>
          </a:prstGeom>
          <a:solidFill>
            <a:srgbClr val="0E9F9A"/>
          </a:solidFill>
          <a:ln/>
        </p:spPr>
      </p:sp>
      <p:pic>
        <p:nvPicPr>
          <p:cNvPr id="4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8314" y="4370466"/>
            <a:ext cx="201900" cy="201900"/>
          </a:xfrm>
          <a:prstGeom prst="rect">
            <a:avLst/>
          </a:prstGeom>
        </p:spPr>
      </p:pic>
      <p:sp>
        <p:nvSpPr>
          <p:cNvPr id="43" name="Text 36"/>
          <p:cNvSpPr/>
          <p:nvPr/>
        </p:nvSpPr>
        <p:spPr>
          <a:xfrm>
            <a:off x="5117592" y="4224528"/>
            <a:ext cx="2566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328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ODIN national standard</a:t>
            </a:r>
            <a:endParaRPr lang="en-US" sz="1150" dirty="0"/>
          </a:p>
        </p:txBody>
      </p:sp>
      <p:sp>
        <p:nvSpPr>
          <p:cNvPr id="44" name="Shape 37"/>
          <p:cNvSpPr/>
          <p:nvPr/>
        </p:nvSpPr>
        <p:spPr>
          <a:xfrm>
            <a:off x="4568952" y="4754880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E7ECEF"/>
          </a:solidFill>
          <a:ln/>
        </p:spPr>
      </p:sp>
      <p:sp>
        <p:nvSpPr>
          <p:cNvPr id="45" name="Text 38"/>
          <p:cNvSpPr/>
          <p:nvPr/>
        </p:nvSpPr>
        <p:spPr>
          <a:xfrm>
            <a:off x="4568952" y="4754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5C6B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WATCH</a:t>
            </a:r>
            <a:endParaRPr lang="en-US" sz="750" dirty="0"/>
          </a:p>
        </p:txBody>
      </p:sp>
      <p:sp>
        <p:nvSpPr>
          <p:cNvPr id="46" name="Text 39"/>
          <p:cNvSpPr/>
          <p:nvPr/>
        </p:nvSpPr>
        <p:spPr>
          <a:xfrm>
            <a:off x="4568952" y="5065776"/>
            <a:ext cx="3069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860" dirty="0">
                <a:solidFill>
                  <a:srgbClr val="4E60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ORNL/DOE standardized utility feed. County-level today; could become a national licensable trigger.</a:t>
            </a:r>
            <a:endParaRPr lang="en-US" sz="860" dirty="0"/>
          </a:p>
        </p:txBody>
      </p:sp>
      <p:sp>
        <p:nvSpPr>
          <p:cNvPr id="47" name="Shape 40"/>
          <p:cNvSpPr/>
          <p:nvPr/>
        </p:nvSpPr>
        <p:spPr>
          <a:xfrm>
            <a:off x="8095488" y="4041648"/>
            <a:ext cx="3526536" cy="1481328"/>
          </a:xfrm>
          <a:prstGeom prst="rect">
            <a:avLst/>
          </a:prstGeom>
          <a:solidFill>
            <a:srgbClr val="F2F6F9"/>
          </a:solidFill>
          <a:ln/>
          <a:effectLst>
            <a:outerShdw sx="100000" sy="100000" kx="0" ky="0" algn="bl" rotWithShape="0" blurRad="88900" dist="25400" dir="8100000">
              <a:srgbClr val="1A3A52">
                <a:alpha val="10000"/>
              </a:srgbClr>
            </a:outerShdw>
          </a:effectLst>
        </p:spPr>
      </p:sp>
      <p:sp>
        <p:nvSpPr>
          <p:cNvPr id="48" name="Shape 41"/>
          <p:cNvSpPr/>
          <p:nvPr/>
        </p:nvSpPr>
        <p:spPr>
          <a:xfrm>
            <a:off x="8095488" y="4041648"/>
            <a:ext cx="64008" cy="1481328"/>
          </a:xfrm>
          <a:prstGeom prst="rect">
            <a:avLst/>
          </a:prstGeom>
          <a:solidFill>
            <a:srgbClr val="5C6B78"/>
          </a:solidFill>
          <a:ln/>
        </p:spPr>
      </p:sp>
      <p:sp>
        <p:nvSpPr>
          <p:cNvPr id="49" name="Shape 42"/>
          <p:cNvSpPr/>
          <p:nvPr/>
        </p:nvSpPr>
        <p:spPr>
          <a:xfrm>
            <a:off x="8333232" y="4261104"/>
            <a:ext cx="420624" cy="420624"/>
          </a:xfrm>
          <a:prstGeom prst="ellipse">
            <a:avLst/>
          </a:prstGeom>
          <a:solidFill>
            <a:srgbClr val="0E9F9A"/>
          </a:solidFill>
          <a:ln/>
        </p:spPr>
      </p:sp>
      <p:pic>
        <p:nvPicPr>
          <p:cNvPr id="5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2594" y="4370466"/>
            <a:ext cx="201900" cy="201900"/>
          </a:xfrm>
          <a:prstGeom prst="rect">
            <a:avLst/>
          </a:prstGeom>
        </p:spPr>
      </p:pic>
      <p:sp>
        <p:nvSpPr>
          <p:cNvPr id="51" name="Text 43"/>
          <p:cNvSpPr/>
          <p:nvPr/>
        </p:nvSpPr>
        <p:spPr>
          <a:xfrm>
            <a:off x="8881872" y="4224528"/>
            <a:ext cx="2566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328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Satellite night-lights</a:t>
            </a:r>
            <a:endParaRPr lang="en-US" sz="1150" dirty="0"/>
          </a:p>
        </p:txBody>
      </p:sp>
      <p:sp>
        <p:nvSpPr>
          <p:cNvPr id="52" name="Shape 44"/>
          <p:cNvSpPr/>
          <p:nvPr/>
        </p:nvSpPr>
        <p:spPr>
          <a:xfrm>
            <a:off x="8333232" y="4754880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E7ECEF"/>
          </a:solidFill>
          <a:ln/>
        </p:spPr>
      </p:sp>
      <p:sp>
        <p:nvSpPr>
          <p:cNvPr id="53" name="Text 45"/>
          <p:cNvSpPr/>
          <p:nvPr/>
        </p:nvSpPr>
        <p:spPr>
          <a:xfrm>
            <a:off x="8333232" y="4754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5C6B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CORROBORATE</a:t>
            </a:r>
            <a:endParaRPr lang="en-US" sz="750" dirty="0"/>
          </a:p>
        </p:txBody>
      </p:sp>
      <p:sp>
        <p:nvSpPr>
          <p:cNvPr id="54" name="Text 46"/>
          <p:cNvSpPr/>
          <p:nvPr/>
        </p:nvSpPr>
        <p:spPr>
          <a:xfrm>
            <a:off x="8333232" y="5065776"/>
            <a:ext cx="3069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860" dirty="0">
                <a:solidFill>
                  <a:srgbClr val="4E60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NASA VIIRS, fully independent but coarse &amp; night-only. A check for large-area events, not primary.</a:t>
            </a:r>
            <a:endParaRPr lang="en-US" sz="860" dirty="0"/>
          </a:p>
        </p:txBody>
      </p:sp>
      <p:sp>
        <p:nvSpPr>
          <p:cNvPr id="55" name="Text 47"/>
          <p:cNvSpPr/>
          <p:nvPr/>
        </p:nvSpPr>
        <p:spPr>
          <a:xfrm>
            <a:off x="566928" y="5779008"/>
            <a:ext cx="11055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8295A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Pricing stays on EAGLE-I; a calibrated bridge factor reconciles the priced event frequency with whatever trigger is chosen. Full diligence in the trigger-source options doc.</a:t>
            </a:r>
            <a:endParaRPr lang="en-US" sz="950" dirty="0"/>
          </a:p>
        </p:txBody>
      </p:sp>
      <p:sp>
        <p:nvSpPr>
          <p:cNvPr id="56" name="Text 48"/>
          <p:cNvSpPr/>
          <p:nvPr/>
        </p:nvSpPr>
        <p:spPr>
          <a:xfrm>
            <a:off x="566928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295A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InfraSure  ·  Outage Pricing Methodology  ·  Internal — for advisor review</a:t>
            </a:r>
            <a:endParaRPr lang="en-US" sz="800" dirty="0"/>
          </a:p>
        </p:txBody>
      </p:sp>
      <p:sp>
        <p:nvSpPr>
          <p:cNvPr id="57" name="Text 49"/>
          <p:cNvSpPr/>
          <p:nvPr/>
        </p:nvSpPr>
        <p:spPr>
          <a:xfrm>
            <a:off x="11073384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5A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E9F9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THE LAYERS COMPOSE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5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328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One premium, a stack of named, status-tagged factors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25880"/>
            <a:ext cx="11055096" cy="502920"/>
          </a:xfrm>
          <a:prstGeom prst="rect">
            <a:avLst/>
          </a:prstGeom>
          <a:solidFill>
            <a:srgbClr val="0E2233"/>
          </a:solidFill>
          <a:ln/>
        </p:spPr>
      </p:sp>
      <p:sp>
        <p:nvSpPr>
          <p:cNvPr id="5" name="Text 3"/>
          <p:cNvSpPr/>
          <p:nvPr/>
        </p:nvSpPr>
        <p:spPr>
          <a:xfrm>
            <a:off x="704088" y="1325880"/>
            <a:ext cx="107807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AF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premium = baseline × customer_basis × location_basis × trigger_align × forward_freq × load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66928" y="1965960"/>
            <a:ext cx="11055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E60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Each factor carries its mechanism and status. A factor of the same size means different things — 1.20× frequency ≠ 1.20× load ≠ 1.20× basis. A missing factor is not zero impact; it means “not validated yet.”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670048"/>
            <a:ext cx="11055096" cy="384048"/>
          </a:xfrm>
          <a:prstGeom prst="rect">
            <a:avLst/>
          </a:prstGeom>
          <a:solidFill>
            <a:srgbClr val="0E2233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670048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Mechanism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230368" y="267004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Native target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887968" y="2670048"/>
            <a:ext cx="2770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Status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66928" y="3054096"/>
            <a:ext cx="11055096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" y="3054096"/>
            <a:ext cx="54864" cy="457200"/>
          </a:xfrm>
          <a:prstGeom prst="rect">
            <a:avLst/>
          </a:prstGeom>
          <a:solidFill>
            <a:srgbClr val="0B6E6A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05409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328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Baseline county λ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230368" y="305409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E60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frequency_lambda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887968" y="3145536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DCF0EE"/>
          </a:solidFill>
          <a:ln/>
        </p:spPr>
      </p:sp>
      <p:sp>
        <p:nvSpPr>
          <p:cNvPr id="16" name="Text 14"/>
          <p:cNvSpPr/>
          <p:nvPr/>
        </p:nvSpPr>
        <p:spPr>
          <a:xfrm>
            <a:off x="8887968" y="314553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0B6E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ACTIVE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566928" y="3511296"/>
            <a:ext cx="11055096" cy="457200"/>
          </a:xfrm>
          <a:prstGeom prst="rect">
            <a:avLst/>
          </a:prstGeom>
          <a:solidFill>
            <a:srgbClr val="F2F6F9"/>
          </a:solidFill>
          <a:ln/>
        </p:spPr>
      </p:sp>
      <p:sp>
        <p:nvSpPr>
          <p:cNvPr id="18" name="Shape 16"/>
          <p:cNvSpPr/>
          <p:nvPr/>
        </p:nvSpPr>
        <p:spPr>
          <a:xfrm>
            <a:off x="566928" y="3511296"/>
            <a:ext cx="54864" cy="457200"/>
          </a:xfrm>
          <a:prstGeom prst="rect">
            <a:avLst/>
          </a:prstGeom>
          <a:solidFill>
            <a:srgbClr val="0B6E6A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51129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328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Customer basis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230368" y="351129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E60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exposure_basis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887968" y="3602736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DCF0EE"/>
          </a:solidFill>
          <a:ln/>
        </p:spPr>
      </p:sp>
      <p:sp>
        <p:nvSpPr>
          <p:cNvPr id="22" name="Text 20"/>
          <p:cNvSpPr/>
          <p:nvPr/>
        </p:nvSpPr>
        <p:spPr>
          <a:xfrm>
            <a:off x="8887968" y="360273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0B6E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ACTIVE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566928" y="3968496"/>
            <a:ext cx="11055096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566928" y="3968496"/>
            <a:ext cx="54864" cy="457200"/>
          </a:xfrm>
          <a:prstGeom prst="rect">
            <a:avLst/>
          </a:prstGeom>
          <a:solidFill>
            <a:srgbClr val="9A6B1F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396849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328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Location basis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230368" y="396849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E60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exposure_basis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8887968" y="4059936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F6EBD2"/>
          </a:solidFill>
          <a:ln/>
        </p:spPr>
      </p:sp>
      <p:sp>
        <p:nvSpPr>
          <p:cNvPr id="28" name="Text 26"/>
          <p:cNvSpPr/>
          <p:nvPr/>
        </p:nvSpPr>
        <p:spPr>
          <a:xfrm>
            <a:off x="8887968" y="405993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9A6B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UNDER REVIEW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566928" y="4425696"/>
            <a:ext cx="11055096" cy="457200"/>
          </a:xfrm>
          <a:prstGeom prst="rect">
            <a:avLst/>
          </a:prstGeom>
          <a:solidFill>
            <a:srgbClr val="F2F6F9"/>
          </a:solidFill>
          <a:ln/>
        </p:spPr>
      </p:sp>
      <p:sp>
        <p:nvSpPr>
          <p:cNvPr id="30" name="Shape 28"/>
          <p:cNvSpPr/>
          <p:nvPr/>
        </p:nvSpPr>
        <p:spPr>
          <a:xfrm>
            <a:off x="566928" y="4425696"/>
            <a:ext cx="54864" cy="457200"/>
          </a:xfrm>
          <a:prstGeom prst="rect">
            <a:avLst/>
          </a:prstGeom>
          <a:solidFill>
            <a:srgbClr val="9A6B1F"/>
          </a:solidFill>
          <a:ln/>
        </p:spPr>
      </p:sp>
      <p:sp>
        <p:nvSpPr>
          <p:cNvPr id="31" name="Text 29"/>
          <p:cNvSpPr/>
          <p:nvPr/>
        </p:nvSpPr>
        <p:spPr>
          <a:xfrm>
            <a:off x="731520" y="442569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328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Predictability / shadow λ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230368" y="442569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E60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frequency_lambda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8887968" y="4517136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F6EBD2"/>
          </a:solidFill>
          <a:ln/>
        </p:spPr>
      </p:sp>
      <p:sp>
        <p:nvSpPr>
          <p:cNvPr id="34" name="Text 32"/>
          <p:cNvSpPr/>
          <p:nvPr/>
        </p:nvSpPr>
        <p:spPr>
          <a:xfrm>
            <a:off x="8887968" y="451713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9A6B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SHADOW / REVIEW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566928" y="4882896"/>
            <a:ext cx="11055096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Shape 34"/>
          <p:cNvSpPr/>
          <p:nvPr/>
        </p:nvSpPr>
        <p:spPr>
          <a:xfrm>
            <a:off x="566928" y="4882896"/>
            <a:ext cx="54864" cy="457200"/>
          </a:xfrm>
          <a:prstGeom prst="rect">
            <a:avLst/>
          </a:prstGeom>
          <a:solidFill>
            <a:srgbClr val="5C6B78"/>
          </a:solidFill>
          <a:ln/>
        </p:spPr>
      </p:sp>
      <p:sp>
        <p:nvSpPr>
          <p:cNvPr id="37" name="Text 35"/>
          <p:cNvSpPr/>
          <p:nvPr/>
        </p:nvSpPr>
        <p:spPr>
          <a:xfrm>
            <a:off x="731520" y="488289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328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Hazard &amp; weather · grid condition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230368" y="488289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E60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hazard_context / load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8887968" y="4974336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E7ECEF"/>
          </a:solidFill>
          <a:ln/>
        </p:spPr>
      </p:sp>
      <p:sp>
        <p:nvSpPr>
          <p:cNvPr id="40" name="Text 38"/>
          <p:cNvSpPr/>
          <p:nvPr/>
        </p:nvSpPr>
        <p:spPr>
          <a:xfrm>
            <a:off x="8887968" y="497433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5C6B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WIP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566928" y="5340096"/>
            <a:ext cx="11055096" cy="457200"/>
          </a:xfrm>
          <a:prstGeom prst="rect">
            <a:avLst/>
          </a:prstGeom>
          <a:solidFill>
            <a:srgbClr val="F2F6F9"/>
          </a:solidFill>
          <a:ln/>
        </p:spPr>
      </p:sp>
      <p:sp>
        <p:nvSpPr>
          <p:cNvPr id="42" name="Shape 40"/>
          <p:cNvSpPr/>
          <p:nvPr/>
        </p:nvSpPr>
        <p:spPr>
          <a:xfrm>
            <a:off x="566928" y="5340096"/>
            <a:ext cx="54864" cy="457200"/>
          </a:xfrm>
          <a:prstGeom prst="rect">
            <a:avLst/>
          </a:prstGeom>
          <a:solidFill>
            <a:srgbClr val="2C4A68"/>
          </a:solidFill>
          <a:ln/>
        </p:spPr>
      </p:sp>
      <p:sp>
        <p:nvSpPr>
          <p:cNvPr id="43" name="Text 41"/>
          <p:cNvSpPr/>
          <p:nvPr/>
        </p:nvSpPr>
        <p:spPr>
          <a:xfrm>
            <a:off x="731520" y="534009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328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Trigger-source alignment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230368" y="534009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E60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trigger_source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8887968" y="5431536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E3EBF3"/>
          </a:solidFill>
          <a:ln/>
        </p:spPr>
      </p:sp>
      <p:sp>
        <p:nvSpPr>
          <p:cNvPr id="46" name="Text 44"/>
          <p:cNvSpPr/>
          <p:nvPr/>
        </p:nvSpPr>
        <p:spPr>
          <a:xfrm>
            <a:off x="8887968" y="543153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2C4A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 DISCUSSION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566928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295A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InfraSure  ·  Outage Pricing Methodology  ·  Internal — for advisor review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11073384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5A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E9F9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WHERE EACH LAYER STANDS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5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328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Status across the full pipeline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600200"/>
            <a:ext cx="11055096" cy="749808"/>
          </a:xfrm>
          <a:prstGeom prst="rect">
            <a:avLst/>
          </a:prstGeom>
          <a:solidFill>
            <a:srgbClr val="F2F6F9"/>
          </a:solidFill>
          <a:ln/>
          <a:effectLst>
            <a:outerShdw sx="100000" sy="100000" kx="0" ky="0" algn="bl" rotWithShape="0" blurRad="88900" dist="25400" dir="8100000">
              <a:srgbClr val="1A3A52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00200"/>
            <a:ext cx="64008" cy="749808"/>
          </a:xfrm>
          <a:prstGeom prst="rect">
            <a:avLst/>
          </a:prstGeom>
          <a:solidFill>
            <a:srgbClr val="0B6E6A"/>
          </a:solidFill>
          <a:ln/>
        </p:spPr>
      </p:sp>
      <p:sp>
        <p:nvSpPr>
          <p:cNvPr id="6" name="Text 4"/>
          <p:cNvSpPr/>
          <p:nvPr/>
        </p:nvSpPr>
        <p:spPr>
          <a:xfrm>
            <a:off x="859536" y="1636776"/>
            <a:ext cx="4297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8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Customer basis risk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230368" y="1636776"/>
            <a:ext cx="4892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E60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Done — discussed with the team and verified. Active headline rate.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0049256" y="1837944"/>
            <a:ext cx="1481328" cy="274320"/>
          </a:xfrm>
          <a:prstGeom prst="roundRect">
            <a:avLst>
              <a:gd name="adj" fmla="val 50000"/>
            </a:avLst>
          </a:prstGeom>
          <a:solidFill>
            <a:srgbClr val="DCF0EE"/>
          </a:solidFill>
          <a:ln/>
        </p:spPr>
      </p:sp>
      <p:sp>
        <p:nvSpPr>
          <p:cNvPr id="9" name="Text 7"/>
          <p:cNvSpPr/>
          <p:nvPr/>
        </p:nvSpPr>
        <p:spPr>
          <a:xfrm>
            <a:off x="10049256" y="1837944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0B6E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DONE · ACTIVE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566928" y="2478024"/>
            <a:ext cx="11055096" cy="749808"/>
          </a:xfrm>
          <a:prstGeom prst="rect">
            <a:avLst/>
          </a:prstGeom>
          <a:solidFill>
            <a:srgbClr val="F2F6F9"/>
          </a:solidFill>
          <a:ln/>
          <a:effectLst>
            <a:outerShdw sx="100000" sy="100000" kx="0" ky="0" algn="bl" rotWithShape="0" blurRad="88900" dist="25400" dir="8100000">
              <a:srgbClr val="1A3A52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66928" y="2478024"/>
            <a:ext cx="64008" cy="749808"/>
          </a:xfrm>
          <a:prstGeom prst="rect">
            <a:avLst/>
          </a:prstGeom>
          <a:solidFill>
            <a:srgbClr val="9A6B1F"/>
          </a:solidFill>
          <a:ln/>
        </p:spPr>
      </p:sp>
      <p:sp>
        <p:nvSpPr>
          <p:cNvPr id="12" name="Text 10"/>
          <p:cNvSpPr/>
          <p:nvPr/>
        </p:nvSpPr>
        <p:spPr>
          <a:xfrm>
            <a:off x="859536" y="2514600"/>
            <a:ext cx="4297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8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Location basis risk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230368" y="2514600"/>
            <a:ext cx="4892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E60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Under review — design and pilot evidence in; targeting completion this week.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0049256" y="2715768"/>
            <a:ext cx="1481328" cy="274320"/>
          </a:xfrm>
          <a:prstGeom prst="roundRect">
            <a:avLst>
              <a:gd name="adj" fmla="val 50000"/>
            </a:avLst>
          </a:prstGeom>
          <a:solidFill>
            <a:srgbClr val="F6EBD2"/>
          </a:solidFill>
          <a:ln/>
        </p:spPr>
      </p:sp>
      <p:sp>
        <p:nvSpPr>
          <p:cNvPr id="15" name="Text 13"/>
          <p:cNvSpPr/>
          <p:nvPr/>
        </p:nvSpPr>
        <p:spPr>
          <a:xfrm>
            <a:off x="10049256" y="2715768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9A6B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UNDER REVIEW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566928" y="3355848"/>
            <a:ext cx="11055096" cy="749808"/>
          </a:xfrm>
          <a:prstGeom prst="rect">
            <a:avLst/>
          </a:prstGeom>
          <a:solidFill>
            <a:srgbClr val="F2F6F9"/>
          </a:solidFill>
          <a:ln/>
          <a:effectLst>
            <a:outerShdw sx="100000" sy="100000" kx="0" ky="0" algn="bl" rotWithShape="0" blurRad="88900" dist="25400" dir="8100000">
              <a:srgbClr val="1A3A52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66928" y="3355848"/>
            <a:ext cx="64008" cy="749808"/>
          </a:xfrm>
          <a:prstGeom prst="rect">
            <a:avLst/>
          </a:prstGeom>
          <a:solidFill>
            <a:srgbClr val="9A6B1F"/>
          </a:solidFill>
          <a:ln/>
        </p:spPr>
      </p:sp>
      <p:sp>
        <p:nvSpPr>
          <p:cNvPr id="18" name="Text 16"/>
          <p:cNvSpPr/>
          <p:nvPr/>
        </p:nvSpPr>
        <p:spPr>
          <a:xfrm>
            <a:off x="859536" y="3392424"/>
            <a:ext cx="4297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8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Predictability routing (statistical)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230368" y="3392424"/>
            <a:ext cx="4892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E60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Under review — initial forward-looking layer done; shadow, not active.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0049256" y="3593592"/>
            <a:ext cx="1481328" cy="274320"/>
          </a:xfrm>
          <a:prstGeom prst="roundRect">
            <a:avLst>
              <a:gd name="adj" fmla="val 50000"/>
            </a:avLst>
          </a:prstGeom>
          <a:solidFill>
            <a:srgbClr val="F6EBD2"/>
          </a:solidFill>
          <a:ln/>
        </p:spPr>
      </p:sp>
      <p:sp>
        <p:nvSpPr>
          <p:cNvPr id="21" name="Text 19"/>
          <p:cNvSpPr/>
          <p:nvPr/>
        </p:nvSpPr>
        <p:spPr>
          <a:xfrm>
            <a:off x="10049256" y="3593592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9A6B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UNDER REVIEW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566928" y="4233672"/>
            <a:ext cx="11055096" cy="749808"/>
          </a:xfrm>
          <a:prstGeom prst="rect">
            <a:avLst/>
          </a:prstGeom>
          <a:solidFill>
            <a:srgbClr val="F2F6F9"/>
          </a:solidFill>
          <a:ln/>
          <a:effectLst>
            <a:outerShdw sx="100000" sy="100000" kx="0" ky="0" algn="bl" rotWithShape="0" blurRad="88900" dist="25400" dir="8100000">
              <a:srgbClr val="1A3A52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66928" y="4233672"/>
            <a:ext cx="64008" cy="749808"/>
          </a:xfrm>
          <a:prstGeom prst="rect">
            <a:avLst/>
          </a:prstGeom>
          <a:solidFill>
            <a:srgbClr val="5C6B78"/>
          </a:solidFill>
          <a:ln/>
        </p:spPr>
      </p:sp>
      <p:sp>
        <p:nvSpPr>
          <p:cNvPr id="24" name="Text 22"/>
          <p:cNvSpPr/>
          <p:nvPr/>
        </p:nvSpPr>
        <p:spPr>
          <a:xfrm>
            <a:off x="859536" y="4270248"/>
            <a:ext cx="4297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8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Hazard &amp; weather · grid condition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230368" y="4270248"/>
            <a:ext cx="4892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E60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Work in progress — the advanced cause-attribution lanes.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10049256" y="4471416"/>
            <a:ext cx="1481328" cy="274320"/>
          </a:xfrm>
          <a:prstGeom prst="roundRect">
            <a:avLst>
              <a:gd name="adj" fmla="val 50000"/>
            </a:avLst>
          </a:prstGeom>
          <a:solidFill>
            <a:srgbClr val="E7ECEF"/>
          </a:solidFill>
          <a:ln/>
        </p:spPr>
      </p:sp>
      <p:sp>
        <p:nvSpPr>
          <p:cNvPr id="27" name="Text 25"/>
          <p:cNvSpPr/>
          <p:nvPr/>
        </p:nvSpPr>
        <p:spPr>
          <a:xfrm>
            <a:off x="10049256" y="4471416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5C6B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WORK IN PROGRESS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566928" y="5111496"/>
            <a:ext cx="11055096" cy="749808"/>
          </a:xfrm>
          <a:prstGeom prst="rect">
            <a:avLst/>
          </a:prstGeom>
          <a:solidFill>
            <a:srgbClr val="F2F6F9"/>
          </a:solidFill>
          <a:ln/>
          <a:effectLst>
            <a:outerShdw sx="100000" sy="100000" kx="0" ky="0" algn="bl" rotWithShape="0" blurRad="88900" dist="25400" dir="8100000">
              <a:srgbClr val="1A3A52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66928" y="5111496"/>
            <a:ext cx="64008" cy="749808"/>
          </a:xfrm>
          <a:prstGeom prst="rect">
            <a:avLst/>
          </a:prstGeom>
          <a:solidFill>
            <a:srgbClr val="2C4A68"/>
          </a:solidFill>
          <a:ln/>
        </p:spPr>
      </p:sp>
      <p:sp>
        <p:nvSpPr>
          <p:cNvPr id="30" name="Text 28"/>
          <p:cNvSpPr/>
          <p:nvPr/>
        </p:nvSpPr>
        <p:spPr>
          <a:xfrm>
            <a:off x="859536" y="5148072"/>
            <a:ext cx="4297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8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Trigger source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5230368" y="5148072"/>
            <a:ext cx="4892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E60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 discussion — option space framed; vendor diligence ahead.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10049256" y="5349240"/>
            <a:ext cx="1481328" cy="274320"/>
          </a:xfrm>
          <a:prstGeom prst="roundRect">
            <a:avLst>
              <a:gd name="adj" fmla="val 50000"/>
            </a:avLst>
          </a:prstGeom>
          <a:solidFill>
            <a:srgbClr val="E3EBF3"/>
          </a:solidFill>
          <a:ln/>
        </p:spPr>
      </p:sp>
      <p:sp>
        <p:nvSpPr>
          <p:cNvPr id="33" name="Text 31"/>
          <p:cNvSpPr/>
          <p:nvPr/>
        </p:nvSpPr>
        <p:spPr>
          <a:xfrm>
            <a:off x="10049256" y="534924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2C4A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 DISCUSSION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566928" y="5989320"/>
            <a:ext cx="11055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00" i="1" dirty="0">
                <a:solidFill>
                  <a:srgbClr val="0B6E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Sequencing principle: basis-risk alignment is closed before forward-looking signal enters pricing; forward-looking signal is validated on holdout years before it moves an active premium.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66928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295A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InfraSure  ·  Outage Pricing Methodology  ·  Internal — for advisor review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1073384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5A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E2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E9F9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WHY THIS PRICING WINS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822960"/>
            <a:ext cx="110550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Dynamic. Forward-looking.</a:t>
            </a:r>
            <a:endParaRPr lang="en-US" sz="2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Localized. Transparent.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2148840"/>
            <a:ext cx="5413248" cy="1152144"/>
          </a:xfrm>
          <a:prstGeom prst="rect">
            <a:avLst/>
          </a:prstGeom>
          <a:solidFill>
            <a:srgbClr val="1A3A52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2148840"/>
            <a:ext cx="54864" cy="1152144"/>
          </a:xfrm>
          <a:prstGeom prst="rect">
            <a:avLst/>
          </a:prstGeom>
          <a:solidFill>
            <a:srgbClr val="0E9F9A"/>
          </a:solidFill>
          <a:ln/>
        </p:spPr>
      </p:sp>
      <p:sp>
        <p:nvSpPr>
          <p:cNvPr id="6" name="Shape 4"/>
          <p:cNvSpPr/>
          <p:nvPr/>
        </p:nvSpPr>
        <p:spPr>
          <a:xfrm>
            <a:off x="841248" y="2487168"/>
            <a:ext cx="493776" cy="493776"/>
          </a:xfrm>
          <a:prstGeom prst="ellipse">
            <a:avLst/>
          </a:prstGeom>
          <a:solidFill>
            <a:srgbClr val="0E9F9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630" y="2615550"/>
            <a:ext cx="237012" cy="2370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27048" y="2313432"/>
            <a:ext cx="4270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Localized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527048" y="2679192"/>
            <a:ext cx="42245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C9DB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From a county average down to the individual customer and their location — we price the site, not a blanket region.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208776" y="2148840"/>
            <a:ext cx="5413248" cy="1152144"/>
          </a:xfrm>
          <a:prstGeom prst="rect">
            <a:avLst/>
          </a:prstGeom>
          <a:solidFill>
            <a:srgbClr val="1A3A52"/>
          </a:solidFill>
          <a:ln/>
        </p:spPr>
      </p:sp>
      <p:sp>
        <p:nvSpPr>
          <p:cNvPr id="11" name="Shape 8"/>
          <p:cNvSpPr/>
          <p:nvPr/>
        </p:nvSpPr>
        <p:spPr>
          <a:xfrm>
            <a:off x="6208776" y="2148840"/>
            <a:ext cx="54864" cy="1152144"/>
          </a:xfrm>
          <a:prstGeom prst="rect">
            <a:avLst/>
          </a:prstGeom>
          <a:solidFill>
            <a:srgbClr val="0E9F9A"/>
          </a:solidFill>
          <a:ln/>
        </p:spPr>
      </p:sp>
      <p:sp>
        <p:nvSpPr>
          <p:cNvPr id="12" name="Shape 9"/>
          <p:cNvSpPr/>
          <p:nvPr/>
        </p:nvSpPr>
        <p:spPr>
          <a:xfrm>
            <a:off x="6483096" y="2487168"/>
            <a:ext cx="493776" cy="493776"/>
          </a:xfrm>
          <a:prstGeom prst="ellipse">
            <a:avLst/>
          </a:prstGeom>
          <a:solidFill>
            <a:srgbClr val="0E9F9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1478" y="2615550"/>
            <a:ext cx="237012" cy="23701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168896" y="2313432"/>
            <a:ext cx="4270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Forward-looking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7168896" y="2679192"/>
            <a:ext cx="42245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C9DB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Reads where a county's risk is heading — trend and regime today, hazard and grid next — not just a flat 12-year average.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566928" y="3447288"/>
            <a:ext cx="5413248" cy="1152144"/>
          </a:xfrm>
          <a:prstGeom prst="rect">
            <a:avLst/>
          </a:prstGeom>
          <a:solidFill>
            <a:srgbClr val="1A3A52"/>
          </a:solidFill>
          <a:ln/>
        </p:spPr>
      </p:sp>
      <p:sp>
        <p:nvSpPr>
          <p:cNvPr id="17" name="Shape 13"/>
          <p:cNvSpPr/>
          <p:nvPr/>
        </p:nvSpPr>
        <p:spPr>
          <a:xfrm>
            <a:off x="566928" y="3447288"/>
            <a:ext cx="54864" cy="1152144"/>
          </a:xfrm>
          <a:prstGeom prst="rect">
            <a:avLst/>
          </a:prstGeom>
          <a:solidFill>
            <a:srgbClr val="0E9F9A"/>
          </a:solidFill>
          <a:ln/>
        </p:spPr>
      </p:sp>
      <p:sp>
        <p:nvSpPr>
          <p:cNvPr id="18" name="Shape 14"/>
          <p:cNvSpPr/>
          <p:nvPr/>
        </p:nvSpPr>
        <p:spPr>
          <a:xfrm>
            <a:off x="841248" y="3785616"/>
            <a:ext cx="493776" cy="493776"/>
          </a:xfrm>
          <a:prstGeom prst="ellipse">
            <a:avLst/>
          </a:prstGeom>
          <a:solidFill>
            <a:srgbClr val="0E9F9A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630" y="3913998"/>
            <a:ext cx="237012" cy="23701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527048" y="3611880"/>
            <a:ext cx="4270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Dynamic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1527048" y="3977640"/>
            <a:ext cx="42245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C9DB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layered stack of named factors that updates as data, grid conditions, and the live trigger evolve — never a frozen rate table.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6208776" y="3447288"/>
            <a:ext cx="5413248" cy="1152144"/>
          </a:xfrm>
          <a:prstGeom prst="rect">
            <a:avLst/>
          </a:prstGeom>
          <a:solidFill>
            <a:srgbClr val="1A3A52"/>
          </a:solidFill>
          <a:ln/>
        </p:spPr>
      </p:sp>
      <p:sp>
        <p:nvSpPr>
          <p:cNvPr id="23" name="Shape 18"/>
          <p:cNvSpPr/>
          <p:nvPr/>
        </p:nvSpPr>
        <p:spPr>
          <a:xfrm>
            <a:off x="6208776" y="3447288"/>
            <a:ext cx="54864" cy="1152144"/>
          </a:xfrm>
          <a:prstGeom prst="rect">
            <a:avLst/>
          </a:prstGeom>
          <a:solidFill>
            <a:srgbClr val="0E9F9A"/>
          </a:solidFill>
          <a:ln/>
        </p:spPr>
      </p:sp>
      <p:sp>
        <p:nvSpPr>
          <p:cNvPr id="24" name="Shape 19"/>
          <p:cNvSpPr/>
          <p:nvPr/>
        </p:nvSpPr>
        <p:spPr>
          <a:xfrm>
            <a:off x="6483096" y="3785616"/>
            <a:ext cx="493776" cy="493776"/>
          </a:xfrm>
          <a:prstGeom prst="ellipse">
            <a:avLst/>
          </a:prstGeom>
          <a:solidFill>
            <a:srgbClr val="0E9F9A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1478" y="3913998"/>
            <a:ext cx="237012" cy="23701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168896" y="3611880"/>
            <a:ext cx="4270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Transparent</a:t>
            </a:r>
            <a:endParaRPr lang="en-US" sz="1450" dirty="0"/>
          </a:p>
        </p:txBody>
      </p:sp>
      <p:sp>
        <p:nvSpPr>
          <p:cNvPr id="27" name="Text 21"/>
          <p:cNvSpPr/>
          <p:nvPr/>
        </p:nvSpPr>
        <p:spPr>
          <a:xfrm>
            <a:off x="7168896" y="3977640"/>
            <a:ext cx="42245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C9DB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Every number reproduces from public data; each adjustment shows its mechanism and status — auditable for any carrier, reinsurer, or regulator.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566928" y="4956048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E9F9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And built to defend:  </a:t>
            </a:r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reproducible from public data  ·  aligned before adjusted  ·  validated before active.</a:t>
            </a:r>
            <a:endParaRPr lang="en-US" sz="1250" dirty="0"/>
          </a:p>
        </p:txBody>
      </p:sp>
      <p:sp>
        <p:nvSpPr>
          <p:cNvPr id="29" name="Text 23"/>
          <p:cNvSpPr/>
          <p:nvPr/>
        </p:nvSpPr>
        <p:spPr>
          <a:xfrm>
            <a:off x="566928" y="5440680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u="sng" dirty="0">
                <a:solidFill>
                  <a:srgbClr val="0E9F9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Internal dashboard ↗   </a:t>
            </a:r>
            <a:pPr algn="ctr" indent="0" marL="0">
              <a:buNone/>
            </a:pPr>
            <a:r>
              <a:rPr lang="en-US" sz="950" u="sng" dirty="0">
                <a:solidFill>
                  <a:srgbClr val="9FB6C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outage-pricing-wsd6lcl64q-uc.a.run.app/dashboard/</a:t>
            </a:r>
            <a:endParaRPr lang="en-US" sz="950" dirty="0"/>
          </a:p>
        </p:txBody>
      </p:sp>
      <p:sp>
        <p:nvSpPr>
          <p:cNvPr id="30" name="Shape 24"/>
          <p:cNvSpPr/>
          <p:nvPr/>
        </p:nvSpPr>
        <p:spPr>
          <a:xfrm>
            <a:off x="566928" y="5943600"/>
            <a:ext cx="11055096" cy="0"/>
          </a:xfrm>
          <a:prstGeom prst="line">
            <a:avLst/>
          </a:prstGeom>
          <a:noFill/>
          <a:ln w="12700">
            <a:solidFill>
              <a:srgbClr val="2A4A63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566928" y="6126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InfraSure  ·  Outage Pricing Methodology  ·  Internal</a:t>
            </a:r>
            <a:endParaRPr lang="en-US" sz="1050" dirty="0"/>
          </a:p>
        </p:txBody>
      </p:sp>
      <p:sp>
        <p:nvSpPr>
          <p:cNvPr id="32" name="Text 26"/>
          <p:cNvSpPr/>
          <p:nvPr/>
        </p:nvSpPr>
        <p:spPr>
          <a:xfrm>
            <a:off x="6135624" y="6126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C9DB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Christopher Lowell  ·  chris@aamani.ai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Outage Insurance Pricing — Methodology (Internal)</dc:title>
  <dc:subject>PptxGenJS Presentation</dc:subject>
  <dc:creator>InfraSure</dc:creator>
  <cp:lastModifiedBy>InfraSure</cp:lastModifiedBy>
  <cp:revision>1</cp:revision>
  <dcterms:created xsi:type="dcterms:W3CDTF">2026-06-18T12:08:04Z</dcterms:created>
  <dcterms:modified xsi:type="dcterms:W3CDTF">2026-06-18T12:08:04Z</dcterms:modified>
</cp:coreProperties>
</file>