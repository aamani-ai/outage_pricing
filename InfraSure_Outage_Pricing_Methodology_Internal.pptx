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outage-pricing-wsd6lcl64q-uc.a.run.app/dashboard/" TargetMode="External"/><Relationship Id="rId6" Type="http://schemas.openxmlformats.org/officeDocument/2006/relationships/hyperlink" Target="https://outage-pricing-wsd6lcl64q-uc.a.run.app/dashboard/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716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1325880"/>
            <a:ext cx="603504" cy="603504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39" y="1482791"/>
            <a:ext cx="289682" cy="28968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66928" y="2194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INSURANCE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66928" y="260604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We Price</a:t>
            </a:r>
            <a:endParaRPr lang="en-US" sz="3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Outage Insurance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566928" y="44348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methodology behind the premium — from the historical baseline, through a county risk profile and its parallel adjustments, to the live trigger.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66928" y="5806440"/>
            <a:ext cx="2743200" cy="274320"/>
          </a:xfrm>
          <a:prstGeom prst="roundRect">
            <a:avLst>
              <a:gd name="adj" fmla="val 50000"/>
            </a:avLst>
          </a:prstGeom>
          <a:solidFill>
            <a:srgbClr val="1A3A52"/>
          </a:solidFill>
          <a:ln/>
        </p:spPr>
      </p:sp>
      <p:sp>
        <p:nvSpPr>
          <p:cNvPr id="9" name="Text 5"/>
          <p:cNvSpPr/>
          <p:nvPr/>
        </p:nvSpPr>
        <p:spPr>
          <a:xfrm>
            <a:off x="566928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INTERNAL · FOR ADVISOR REVIEW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3493008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A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a quote happens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platform turns a few business choices into one annual premium.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4983480" cy="950976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91640"/>
            <a:ext cx="64008" cy="950976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9385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847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Choose the address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527048" y="21945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insured location you want to cover.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761488" y="2624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916936"/>
            <a:ext cx="4983480" cy="950976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916936"/>
            <a:ext cx="64008" cy="950976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4" name="Shape 11"/>
          <p:cNvSpPr/>
          <p:nvPr/>
        </p:nvSpPr>
        <p:spPr>
          <a:xfrm>
            <a:off x="841248" y="3163824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282696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27048" y="3072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Pick trigger &amp; payout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1527048" y="341985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long an outage must last, and how much it pays.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61488" y="3849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4142232"/>
            <a:ext cx="4983480" cy="950976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6928" y="4142232"/>
            <a:ext cx="64008" cy="950976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21" name="Shape 17"/>
          <p:cNvSpPr/>
          <p:nvPr/>
        </p:nvSpPr>
        <p:spPr>
          <a:xfrm>
            <a:off x="841248" y="4389120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07992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27048" y="42976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Get the annual premium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527048" y="46451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model returns the price for that choice.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66928" y="5486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grid at right is one county's price matrix — every trigger-duration × payout a buyer might pick.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6858000" y="10789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Trigger duration  T  →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6858000" y="1389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2h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7680960" y="1389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4h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503920" y="1389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9326880" y="1389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12h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10149840" y="13898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24h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 rot="16200000">
            <a:off x="5349240" y="34198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Payout  X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309360" y="177393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$10k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885432" y="1801368"/>
            <a:ext cx="768096" cy="768096"/>
          </a:xfrm>
          <a:prstGeom prst="rect">
            <a:avLst/>
          </a:prstGeom>
          <a:solidFill>
            <a:srgbClr val="0E9F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858000" y="1773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$4,920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708392" y="1801368"/>
            <a:ext cx="768096" cy="768096"/>
          </a:xfrm>
          <a:prstGeom prst="rect">
            <a:avLst/>
          </a:prstGeom>
          <a:solidFill>
            <a:srgbClr val="3CB0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680960" y="1773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$3,080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531352" y="1801368"/>
            <a:ext cx="768096" cy="768096"/>
          </a:xfrm>
          <a:prstGeom prst="rect">
            <a:avLst/>
          </a:prstGeom>
          <a:solidFill>
            <a:srgbClr val="6EC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8503920" y="1773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$1,540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9354312" y="1801368"/>
            <a:ext cx="768096" cy="768096"/>
          </a:xfrm>
          <a:prstGeom prst="rect">
            <a:avLst/>
          </a:prstGeom>
          <a:solidFill>
            <a:srgbClr val="8ECEC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9326880" y="1773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$850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10177272" y="1801368"/>
            <a:ext cx="768096" cy="768096"/>
          </a:xfrm>
          <a:prstGeom prst="rect">
            <a:avLst/>
          </a:prstGeom>
          <a:solidFill>
            <a:srgbClr val="AFD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10149840" y="1773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$340</a:t>
            </a:r>
            <a:endParaRPr lang="en-US" sz="1050" dirty="0"/>
          </a:p>
        </p:txBody>
      </p:sp>
      <p:sp>
        <p:nvSpPr>
          <p:cNvPr id="44" name="Text 39"/>
          <p:cNvSpPr/>
          <p:nvPr/>
        </p:nvSpPr>
        <p:spPr>
          <a:xfrm>
            <a:off x="6309360" y="25968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$5k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6885432" y="2624328"/>
            <a:ext cx="768096" cy="768096"/>
          </a:xfrm>
          <a:prstGeom prst="rect">
            <a:avLst/>
          </a:prstGeom>
          <a:solidFill>
            <a:srgbClr val="4EB7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858000" y="25968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$2,460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7708392" y="2624328"/>
            <a:ext cx="768096" cy="768096"/>
          </a:xfrm>
          <a:prstGeom prst="rect">
            <a:avLst/>
          </a:prstGeom>
          <a:solidFill>
            <a:srgbClr val="6EC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7680960" y="25968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$1,540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531352" y="2624328"/>
            <a:ext cx="768096" cy="768096"/>
          </a:xfrm>
          <a:prstGeom prst="rect">
            <a:avLst/>
          </a:prstGeom>
          <a:solidFill>
            <a:srgbClr val="92D0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8503920" y="25968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$770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9354312" y="2624328"/>
            <a:ext cx="768096" cy="768096"/>
          </a:xfrm>
          <a:prstGeom prst="rect">
            <a:avLst/>
          </a:prstGeom>
          <a:solidFill>
            <a:srgbClr val="A9D8D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9326880" y="25968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$425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10177272" y="2624328"/>
            <a:ext cx="768096" cy="768096"/>
          </a:xfrm>
          <a:prstGeom prst="rect">
            <a:avLst/>
          </a:prstGeom>
          <a:solidFill>
            <a:srgbClr val="C0E1E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10149840" y="25968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$170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6309360" y="341985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$2.5k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6885432" y="3447288"/>
            <a:ext cx="768096" cy="768096"/>
          </a:xfrm>
          <a:prstGeom prst="rect">
            <a:avLst/>
          </a:prstGeom>
          <a:solidFill>
            <a:srgbClr val="7C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6858000" y="34198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$1,230</a:t>
            </a:r>
            <a:endParaRPr lang="en-US" sz="1050" dirty="0"/>
          </a:p>
        </p:txBody>
      </p:sp>
      <p:sp>
        <p:nvSpPr>
          <p:cNvPr id="58" name="Shape 53"/>
          <p:cNvSpPr/>
          <p:nvPr/>
        </p:nvSpPr>
        <p:spPr>
          <a:xfrm>
            <a:off x="7708392" y="3447288"/>
            <a:ext cx="768096" cy="768096"/>
          </a:xfrm>
          <a:prstGeom prst="rect">
            <a:avLst/>
          </a:prstGeom>
          <a:solidFill>
            <a:srgbClr val="92D0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680960" y="34198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$770</a:t>
            </a:r>
            <a:endParaRPr lang="en-US" sz="1050" dirty="0"/>
          </a:p>
        </p:txBody>
      </p:sp>
      <p:sp>
        <p:nvSpPr>
          <p:cNvPr id="60" name="Shape 55"/>
          <p:cNvSpPr/>
          <p:nvPr/>
        </p:nvSpPr>
        <p:spPr>
          <a:xfrm>
            <a:off x="8531352" y="3447288"/>
            <a:ext cx="768096" cy="768096"/>
          </a:xfrm>
          <a:prstGeom prst="rect">
            <a:avLst/>
          </a:prstGeom>
          <a:solidFill>
            <a:srgbClr val="ACD9D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8503920" y="34198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$385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9354312" y="3447288"/>
            <a:ext cx="768096" cy="768096"/>
          </a:xfrm>
          <a:prstGeom prst="rect">
            <a:avLst/>
          </a:prstGeom>
          <a:solidFill>
            <a:srgbClr val="BCDFE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9326880" y="34198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$210</a:t>
            </a:r>
            <a:endParaRPr lang="en-US" sz="1050" dirty="0"/>
          </a:p>
        </p:txBody>
      </p:sp>
      <p:sp>
        <p:nvSpPr>
          <p:cNvPr id="64" name="Shape 59"/>
          <p:cNvSpPr/>
          <p:nvPr/>
        </p:nvSpPr>
        <p:spPr>
          <a:xfrm>
            <a:off x="10177272" y="3447288"/>
            <a:ext cx="768096" cy="768096"/>
          </a:xfrm>
          <a:prstGeom prst="rect">
            <a:avLst/>
          </a:prstGeom>
          <a:solidFill>
            <a:srgbClr val="CCE5E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10149840" y="34198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</a:t>
            </a:r>
            <a:endParaRPr lang="en-US" sz="1050" dirty="0"/>
          </a:p>
        </p:txBody>
      </p:sp>
      <p:sp>
        <p:nvSpPr>
          <p:cNvPr id="66" name="Text 61"/>
          <p:cNvSpPr/>
          <p:nvPr/>
        </p:nvSpPr>
        <p:spPr>
          <a:xfrm>
            <a:off x="6309360" y="424281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$1k</a:t>
            </a:r>
            <a:endParaRPr lang="en-US" sz="1000" dirty="0"/>
          </a:p>
        </p:txBody>
      </p:sp>
      <p:sp>
        <p:nvSpPr>
          <p:cNvPr id="67" name="Shape 62"/>
          <p:cNvSpPr/>
          <p:nvPr/>
        </p:nvSpPr>
        <p:spPr>
          <a:xfrm>
            <a:off x="6885432" y="4270248"/>
            <a:ext cx="768096" cy="768096"/>
          </a:xfrm>
          <a:prstGeom prst="rect">
            <a:avLst/>
          </a:prstGeom>
          <a:solidFill>
            <a:srgbClr val="A4D6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858000" y="4242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$490</a:t>
            </a:r>
            <a:endParaRPr lang="en-US" sz="1050" dirty="0"/>
          </a:p>
        </p:txBody>
      </p:sp>
      <p:sp>
        <p:nvSpPr>
          <p:cNvPr id="69" name="Shape 64"/>
          <p:cNvSpPr/>
          <p:nvPr/>
        </p:nvSpPr>
        <p:spPr>
          <a:xfrm>
            <a:off x="7708392" y="4270248"/>
            <a:ext cx="768096" cy="768096"/>
          </a:xfrm>
          <a:prstGeom prst="rect">
            <a:avLst/>
          </a:prstGeom>
          <a:solidFill>
            <a:srgbClr val="B2DC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7680960" y="4242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</a:t>
            </a:r>
            <a:endParaRPr lang="en-US" sz="1050" dirty="0"/>
          </a:p>
        </p:txBody>
      </p:sp>
      <p:sp>
        <p:nvSpPr>
          <p:cNvPr id="71" name="Shape 66"/>
          <p:cNvSpPr/>
          <p:nvPr/>
        </p:nvSpPr>
        <p:spPr>
          <a:xfrm>
            <a:off x="8531352" y="4270248"/>
            <a:ext cx="768096" cy="768096"/>
          </a:xfrm>
          <a:prstGeom prst="rect">
            <a:avLst/>
          </a:prstGeom>
          <a:solidFill>
            <a:srgbClr val="C2E2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8503920" y="4242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$155</a:t>
            </a:r>
            <a:endParaRPr lang="en-US" sz="1050" dirty="0"/>
          </a:p>
        </p:txBody>
      </p:sp>
      <p:sp>
        <p:nvSpPr>
          <p:cNvPr id="73" name="Shape 68"/>
          <p:cNvSpPr/>
          <p:nvPr/>
        </p:nvSpPr>
        <p:spPr>
          <a:xfrm>
            <a:off x="9354312" y="4270248"/>
            <a:ext cx="768096" cy="768096"/>
          </a:xfrm>
          <a:prstGeom prst="rect">
            <a:avLst/>
          </a:prstGeom>
          <a:solidFill>
            <a:srgbClr val="CCE5E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9326880" y="4242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</a:t>
            </a:r>
            <a:endParaRPr lang="en-US" sz="1050" dirty="0"/>
          </a:p>
        </p:txBody>
      </p:sp>
      <p:sp>
        <p:nvSpPr>
          <p:cNvPr id="75" name="Shape 70"/>
          <p:cNvSpPr/>
          <p:nvPr/>
        </p:nvSpPr>
        <p:spPr>
          <a:xfrm>
            <a:off x="10177272" y="4270248"/>
            <a:ext cx="768096" cy="768096"/>
          </a:xfrm>
          <a:prstGeom prst="rect">
            <a:avLst/>
          </a:prstGeom>
          <a:solidFill>
            <a:srgbClr val="D7E9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10149840" y="4242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$34</a:t>
            </a:r>
            <a:endParaRPr lang="en-US" sz="1050" dirty="0"/>
          </a:p>
        </p:txBody>
      </p:sp>
      <p:sp>
        <p:nvSpPr>
          <p:cNvPr id="77" name="Text 72"/>
          <p:cNvSpPr/>
          <p:nvPr/>
        </p:nvSpPr>
        <p:spPr>
          <a:xfrm>
            <a:off x="6309360" y="506577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$500</a:t>
            </a:r>
            <a:endParaRPr lang="en-US" sz="1000" dirty="0"/>
          </a:p>
        </p:txBody>
      </p:sp>
      <p:sp>
        <p:nvSpPr>
          <p:cNvPr id="78" name="Shape 73"/>
          <p:cNvSpPr/>
          <p:nvPr/>
        </p:nvSpPr>
        <p:spPr>
          <a:xfrm>
            <a:off x="6885432" y="5093208"/>
            <a:ext cx="768096" cy="768096"/>
          </a:xfrm>
          <a:prstGeom prst="rect">
            <a:avLst/>
          </a:prstGeom>
          <a:solidFill>
            <a:srgbClr val="B8DEE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6858000" y="506577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$245</a:t>
            </a:r>
            <a:endParaRPr lang="en-US" sz="1050" dirty="0"/>
          </a:p>
        </p:txBody>
      </p:sp>
      <p:sp>
        <p:nvSpPr>
          <p:cNvPr id="80" name="Shape 75"/>
          <p:cNvSpPr/>
          <p:nvPr/>
        </p:nvSpPr>
        <p:spPr>
          <a:xfrm>
            <a:off x="7708392" y="5093208"/>
            <a:ext cx="768096" cy="768096"/>
          </a:xfrm>
          <a:prstGeom prst="rect">
            <a:avLst/>
          </a:prstGeom>
          <a:solidFill>
            <a:srgbClr val="C2E2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7680960" y="506577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$154</a:t>
            </a:r>
            <a:endParaRPr lang="en-US" sz="1050" dirty="0"/>
          </a:p>
        </p:txBody>
      </p:sp>
      <p:sp>
        <p:nvSpPr>
          <p:cNvPr id="82" name="Shape 77"/>
          <p:cNvSpPr/>
          <p:nvPr/>
        </p:nvSpPr>
        <p:spPr>
          <a:xfrm>
            <a:off x="8531352" y="5093208"/>
            <a:ext cx="768096" cy="768096"/>
          </a:xfrm>
          <a:prstGeom prst="rect">
            <a:avLst/>
          </a:prstGeom>
          <a:solidFill>
            <a:srgbClr val="CEE6E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8503920" y="506577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$77</a:t>
            </a:r>
            <a:endParaRPr lang="en-US" sz="1050" dirty="0"/>
          </a:p>
        </p:txBody>
      </p:sp>
      <p:sp>
        <p:nvSpPr>
          <p:cNvPr id="84" name="Shape 79"/>
          <p:cNvSpPr/>
          <p:nvPr/>
        </p:nvSpPr>
        <p:spPr>
          <a:xfrm>
            <a:off x="9354312" y="5093208"/>
            <a:ext cx="768096" cy="768096"/>
          </a:xfrm>
          <a:prstGeom prst="rect">
            <a:avLst/>
          </a:prstGeom>
          <a:solidFill>
            <a:srgbClr val="D5E9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9326880" y="506577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$42</a:t>
            </a:r>
            <a:endParaRPr lang="en-US" sz="1050" dirty="0"/>
          </a:p>
        </p:txBody>
      </p:sp>
      <p:sp>
        <p:nvSpPr>
          <p:cNvPr id="86" name="Shape 81"/>
          <p:cNvSpPr/>
          <p:nvPr/>
        </p:nvSpPr>
        <p:spPr>
          <a:xfrm>
            <a:off x="10177272" y="5093208"/>
            <a:ext cx="768096" cy="768096"/>
          </a:xfrm>
          <a:prstGeom prst="rect">
            <a:avLst/>
          </a:prstGeom>
          <a:solidFill>
            <a:srgbClr val="DCEB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7" name="Text 82"/>
          <p:cNvSpPr/>
          <p:nvPr/>
        </p:nvSpPr>
        <p:spPr>
          <a:xfrm>
            <a:off x="10149840" y="506577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$17</a:t>
            </a:r>
            <a:endParaRPr lang="en-US" sz="1050" dirty="0"/>
          </a:p>
        </p:txBody>
      </p:sp>
      <p:sp>
        <p:nvSpPr>
          <p:cNvPr id="88" name="Text 83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89" name="Text 84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CONCEPTUAL MODEL · GEN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 risk profile, three parallel adjustments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quantity in focus: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expected event count for the target year where duration ≥ T. A risk profile sits between the baseline and three parallel adjustments — they are siblings, not nested.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041648" y="1737360"/>
            <a:ext cx="4105656" cy="713232"/>
          </a:xfrm>
          <a:prstGeom prst="rect">
            <a:avLst/>
          </a:prstGeom>
          <a:solidFill>
            <a:srgbClr val="0E9F9A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041648" y="1737360"/>
            <a:ext cx="64008" cy="713232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7" name="Text 5"/>
          <p:cNvSpPr/>
          <p:nvPr/>
        </p:nvSpPr>
        <p:spPr>
          <a:xfrm>
            <a:off x="4261104" y="1856232"/>
            <a:ext cx="3739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Historical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61104" y="2167128"/>
            <a:ext cx="3721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EFE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customer-level λ · from county history + adjustment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41648" y="2670048"/>
            <a:ext cx="4105656" cy="749808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41648" y="2670048"/>
            <a:ext cx="64008" cy="749808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1" name="Text 9"/>
          <p:cNvSpPr/>
          <p:nvPr/>
        </p:nvSpPr>
        <p:spPr>
          <a:xfrm>
            <a:off x="4261104" y="2788920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Risk-based clustering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61104" y="3099816"/>
            <a:ext cx="3721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counties by frequency behavior → a risk identity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85432" y="2798064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14" name="Text 12"/>
          <p:cNvSpPr/>
          <p:nvPr/>
        </p:nvSpPr>
        <p:spPr>
          <a:xfrm>
            <a:off x="6885432" y="279806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66928" y="3931920"/>
            <a:ext cx="3563112" cy="105156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6928" y="3931920"/>
            <a:ext cx="64008" cy="105156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050792"/>
            <a:ext cx="2145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Spatial adjustment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86384" y="4361688"/>
            <a:ext cx="3179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inside the county is more exposed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68168" y="405993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20" name="Text 18"/>
          <p:cNvSpPr/>
          <p:nvPr/>
        </p:nvSpPr>
        <p:spPr>
          <a:xfrm>
            <a:off x="2868168" y="405993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12920" y="3931920"/>
            <a:ext cx="3563112" cy="105156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12920" y="3931920"/>
            <a:ext cx="64008" cy="105156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4532376" y="4050792"/>
            <a:ext cx="2145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 climate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32376" y="4361688"/>
            <a:ext cx="3179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storms, wildfire, flood, heat, climate regime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14160" y="405993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26" name="Text 24"/>
          <p:cNvSpPr/>
          <p:nvPr/>
        </p:nvSpPr>
        <p:spPr>
          <a:xfrm>
            <a:off x="6614160" y="405993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WIP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058912" y="3931920"/>
            <a:ext cx="3563112" cy="105156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058912" y="3931920"/>
            <a:ext cx="64008" cy="105156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29" name="Text 27"/>
          <p:cNvSpPr/>
          <p:nvPr/>
        </p:nvSpPr>
        <p:spPr>
          <a:xfrm>
            <a:off x="8278368" y="4050792"/>
            <a:ext cx="2145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conditioning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78368" y="4361688"/>
            <a:ext cx="3179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reliability, hardening, restoration capacity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360152" y="405993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0152" y="405993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WIP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041648" y="5349240"/>
            <a:ext cx="4105656" cy="658368"/>
          </a:xfrm>
          <a:prstGeom prst="rect">
            <a:avLst/>
          </a:prstGeom>
          <a:solidFill>
            <a:srgbClr val="E1F1EF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041648" y="5349240"/>
            <a:ext cx="64008" cy="658368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35" name="Text 33"/>
          <p:cNvSpPr/>
          <p:nvPr/>
        </p:nvSpPr>
        <p:spPr>
          <a:xfrm>
            <a:off x="4261104" y="5468112"/>
            <a:ext cx="3739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Adjusted premium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261104" y="5779008"/>
            <a:ext cx="37216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(T, X) matrix cell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83046" y="2450592"/>
            <a:ext cx="22860" cy="219456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38" name="Shape 36"/>
          <p:cNvSpPr/>
          <p:nvPr/>
        </p:nvSpPr>
        <p:spPr>
          <a:xfrm>
            <a:off x="6083046" y="3419856"/>
            <a:ext cx="22860" cy="283464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39" name="Shape 37"/>
          <p:cNvSpPr/>
          <p:nvPr/>
        </p:nvSpPr>
        <p:spPr>
          <a:xfrm>
            <a:off x="2348484" y="3691890"/>
            <a:ext cx="7491984" cy="2286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0" name="Shape 38"/>
          <p:cNvSpPr/>
          <p:nvPr/>
        </p:nvSpPr>
        <p:spPr>
          <a:xfrm>
            <a:off x="2337054" y="3703320"/>
            <a:ext cx="22860" cy="22860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1" name="Shape 39"/>
          <p:cNvSpPr/>
          <p:nvPr/>
        </p:nvSpPr>
        <p:spPr>
          <a:xfrm>
            <a:off x="6083046" y="3703320"/>
            <a:ext cx="22860" cy="22860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2" name="Shape 40"/>
          <p:cNvSpPr/>
          <p:nvPr/>
        </p:nvSpPr>
        <p:spPr>
          <a:xfrm>
            <a:off x="9829038" y="3703320"/>
            <a:ext cx="22860" cy="22860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3" name="Shape 41"/>
          <p:cNvSpPr/>
          <p:nvPr/>
        </p:nvSpPr>
        <p:spPr>
          <a:xfrm>
            <a:off x="2337054" y="4983480"/>
            <a:ext cx="22860" cy="192024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4" name="Shape 42"/>
          <p:cNvSpPr/>
          <p:nvPr/>
        </p:nvSpPr>
        <p:spPr>
          <a:xfrm>
            <a:off x="6083046" y="4983480"/>
            <a:ext cx="22860" cy="192024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9038" y="4983480"/>
            <a:ext cx="22860" cy="192024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6" name="Shape 44"/>
          <p:cNvSpPr/>
          <p:nvPr/>
        </p:nvSpPr>
        <p:spPr>
          <a:xfrm>
            <a:off x="2348484" y="5164074"/>
            <a:ext cx="7491984" cy="2286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7" name="Shape 45"/>
          <p:cNvSpPr/>
          <p:nvPr/>
        </p:nvSpPr>
        <p:spPr>
          <a:xfrm>
            <a:off x="6083046" y="5175504"/>
            <a:ext cx="22860" cy="173736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" y="6163056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Risk-based clustering is the hub: its identity routes each county and feeds all three parallel passes — none is a subset of another.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HISTORICAL BASELINE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Empirical customer-level frequency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Derived from public county history with an internal data-granularity adjustment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04704" y="67665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DCF0EE"/>
          </a:solidFill>
          <a:ln/>
        </p:spPr>
      </p:sp>
      <p:sp>
        <p:nvSpPr>
          <p:cNvPr id="6" name="Text 4"/>
          <p:cNvSpPr/>
          <p:nvPr/>
        </p:nvSpPr>
        <p:spPr>
          <a:xfrm>
            <a:off x="10204704" y="676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DONE · ACTIVE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" y="1627632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often does a qualifying outage hit this customer — times the payout.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start from the public EAGLE-I county record (15-minute snapshots, 2014–2025), then convert it to a customer-level frequency. The baseline already reflects what one insured experiences — no fitted curve, no third-party cat model.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154680"/>
            <a:ext cx="5760720" cy="45720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3154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λ_customer(T) = λ_county(T) × granularity_adj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03320"/>
            <a:ext cx="5760720" cy="45720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pure = λ_customer(T) × X     retail = pure ÷ (1 − ER − TM)</a:t>
            </a:r>
            <a:endParaRPr lang="en-US" sz="12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98264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59536" y="43342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county→customer conversion is an internal data-quality correction for the granularity of the public source — not a separate pricing layer.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901184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59536" y="48371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S(T) is read straight off the empirical survival curve — no Weibull, no fitting.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404104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" y="534009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Modelability tiers gate credibility: green quotes, amber with caution, red suppressed.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720840" y="1481328"/>
            <a:ext cx="4901184" cy="434340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720840" y="1481328"/>
            <a:ext cx="64008" cy="434340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20" name="Text 15"/>
          <p:cNvSpPr/>
          <p:nvPr/>
        </p:nvSpPr>
        <p:spPr>
          <a:xfrm>
            <a:off x="6995160" y="16642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ANCHOR · CUSTOMER LEVEL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6995160" y="19385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Alachua County, FL · T = 4h · X = $500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995160" y="23774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county event rate · λ_county(4h)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9966960" y="237744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307.1 / yr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995160" y="2777490"/>
            <a:ext cx="4453128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25" name="Text 20"/>
          <p:cNvSpPr/>
          <p:nvPr/>
        </p:nvSpPr>
        <p:spPr>
          <a:xfrm>
            <a:off x="6995160" y="28163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customer-level λ(4h) · after adjustment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9966960" y="2816352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0.20 / yr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995160" y="3216402"/>
            <a:ext cx="4453128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28" name="Text 23"/>
          <p:cNvSpPr/>
          <p:nvPr/>
        </p:nvSpPr>
        <p:spPr>
          <a:xfrm>
            <a:off x="6995160" y="325526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 pure expected loss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9966960" y="325526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$100 / yr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995160" y="3655314"/>
            <a:ext cx="4453128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31" name="Text 26"/>
          <p:cNvSpPr/>
          <p:nvPr/>
        </p:nvSpPr>
        <p:spPr>
          <a:xfrm>
            <a:off x="6995160" y="369417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 retail (ER 0.20, TM 0.15)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9966960" y="3694176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$154 / yr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6995160" y="4094226"/>
            <a:ext cx="4453128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34" name="Shape 29"/>
          <p:cNvSpPr/>
          <p:nvPr/>
        </p:nvSpPr>
        <p:spPr>
          <a:xfrm>
            <a:off x="6949440" y="4626864"/>
            <a:ext cx="4453128" cy="1115568"/>
          </a:xfrm>
          <a:prstGeom prst="roundRect">
            <a:avLst>
              <a:gd name="adj" fmla="val 4918"/>
            </a:avLst>
          </a:prstGeom>
          <a:solidFill>
            <a:srgbClr val="DCF0EE"/>
          </a:solidFill>
          <a:ln/>
        </p:spPr>
      </p:sp>
      <p:sp>
        <p:nvSpPr>
          <p:cNvPr id="35" name="Text 30"/>
          <p:cNvSpPr/>
          <p:nvPr/>
        </p:nvSpPr>
        <p:spPr>
          <a:xfrm>
            <a:off x="7178040" y="4709160"/>
            <a:ext cx="40233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Customer-level by construction.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F5E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headline is what one insured pays. The county rate is only the source we adjust down from — it is never quoted, and the adjustment is an internal data-quality step.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1 · RISK-BASED CLUSTERING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Counties aren't interchangeable —</a:t>
            </a:r>
            <a:endParaRPr lang="en-US" sz="2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them by risk first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2057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counties with the same average rate can behave completely differently — one climbs steadily, one is flat then jumps, one is calm with a single storm year. Before any adjustment, we group counties by the shape of their history. That risk identity tells us which adjustment each county even needs.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3017520"/>
            <a:ext cx="5440680" cy="187452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3017520"/>
            <a:ext cx="64008" cy="187452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3291840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918" y="3420222"/>
            <a:ext cx="237012" cy="2370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334670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clustering gives us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9536" y="3977640"/>
            <a:ext cx="4855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risk identity per county — smooth, step-change, volatile, episodic, or sparse. Not a price move on its own.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3017520"/>
            <a:ext cx="5440680" cy="187452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12" name="Shape 9"/>
          <p:cNvSpPr/>
          <p:nvPr/>
        </p:nvSpPr>
        <p:spPr>
          <a:xfrm>
            <a:off x="6217920" y="3017520"/>
            <a:ext cx="64008" cy="187452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0528" y="3291840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910" y="3420222"/>
            <a:ext cx="237012" cy="2370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78040" y="334670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comes first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6510528" y="3977640"/>
            <a:ext cx="4855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identity routes each county to the right treatment — and the same signal informs all three parallel passes.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66928" y="5166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Direction is not reliability.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strong slope can be a steady climb — or one storm year masquerading as a trend. The risk profile separates the two.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1 · RISK-BASED CLUSTERING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counties by the shape of their history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204704" y="67665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5" name="Text 3"/>
          <p:cNvSpPr/>
          <p:nvPr/>
        </p:nvSpPr>
        <p:spPr>
          <a:xfrm>
            <a:off x="10204704" y="676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read each county's frequency history and assign it a risk cluster.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cluster is the county's identity — and it decides the treatment: which forward model fits, whether a load is needed, and what signal carries into the spatial adjustment.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02152" cy="1755648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828800"/>
            <a:ext cx="64008" cy="1755648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3852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Smooth worsening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59536" y="2677886"/>
            <a:ext cx="300609" cy="156754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1" name="Shape 9"/>
          <p:cNvSpPr/>
          <p:nvPr/>
        </p:nvSpPr>
        <p:spPr>
          <a:xfrm>
            <a:off x="1233297" y="2599509"/>
            <a:ext cx="300609" cy="235131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07058" y="2599509"/>
            <a:ext cx="300609" cy="235131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80819" y="2521131"/>
            <a:ext cx="300609" cy="313509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4" name="Shape 12"/>
          <p:cNvSpPr/>
          <p:nvPr/>
        </p:nvSpPr>
        <p:spPr>
          <a:xfrm>
            <a:off x="2354580" y="2442754"/>
            <a:ext cx="300609" cy="391886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28341" y="2442754"/>
            <a:ext cx="300609" cy="391886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02102" y="2364377"/>
            <a:ext cx="300609" cy="470263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7" name="Shape 15"/>
          <p:cNvSpPr/>
          <p:nvPr/>
        </p:nvSpPr>
        <p:spPr>
          <a:xfrm>
            <a:off x="3475863" y="2286000"/>
            <a:ext cx="300609" cy="54864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980944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trend-clean → simple linear model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3502152" cy="1755648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43400" y="1828800"/>
            <a:ext cx="64008" cy="1755648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599432" y="193852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Step-change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36008" y="2743200"/>
            <a:ext cx="300609" cy="9144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3" name="Shape 21"/>
          <p:cNvSpPr/>
          <p:nvPr/>
        </p:nvSpPr>
        <p:spPr>
          <a:xfrm>
            <a:off x="5009769" y="2743200"/>
            <a:ext cx="300609" cy="9144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4" name="Shape 22"/>
          <p:cNvSpPr/>
          <p:nvPr/>
        </p:nvSpPr>
        <p:spPr>
          <a:xfrm>
            <a:off x="5383530" y="2743200"/>
            <a:ext cx="300609" cy="9144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5" name="Shape 23"/>
          <p:cNvSpPr/>
          <p:nvPr/>
        </p:nvSpPr>
        <p:spPr>
          <a:xfrm>
            <a:off x="5757291" y="2743200"/>
            <a:ext cx="300609" cy="9144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6" name="Shape 24"/>
          <p:cNvSpPr/>
          <p:nvPr/>
        </p:nvSpPr>
        <p:spPr>
          <a:xfrm>
            <a:off x="6131052" y="2377440"/>
            <a:ext cx="300609" cy="45720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7" name="Shape 25"/>
          <p:cNvSpPr/>
          <p:nvPr/>
        </p:nvSpPr>
        <p:spPr>
          <a:xfrm>
            <a:off x="6504813" y="2377440"/>
            <a:ext cx="300609" cy="45720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8574" y="2377440"/>
            <a:ext cx="300609" cy="45720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29" name="Shape 27"/>
          <p:cNvSpPr/>
          <p:nvPr/>
        </p:nvSpPr>
        <p:spPr>
          <a:xfrm>
            <a:off x="7252335" y="2286000"/>
            <a:ext cx="300609" cy="54864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30" name="Text 28"/>
          <p:cNvSpPr/>
          <p:nvPr/>
        </p:nvSpPr>
        <p:spPr>
          <a:xfrm>
            <a:off x="4599432" y="2980944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regime-shift → recent-regime model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119872" y="1828800"/>
            <a:ext cx="3502152" cy="1755648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19872" y="1828800"/>
            <a:ext cx="64008" cy="1755648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3" name="Text 31"/>
          <p:cNvSpPr/>
          <p:nvPr/>
        </p:nvSpPr>
        <p:spPr>
          <a:xfrm>
            <a:off x="8375904" y="193852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Episodic / spiky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412480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5" name="Shape 33"/>
          <p:cNvSpPr/>
          <p:nvPr/>
        </p:nvSpPr>
        <p:spPr>
          <a:xfrm>
            <a:off x="8786241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60002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533763" y="2286000"/>
            <a:ext cx="300609" cy="54864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8" name="Shape 36"/>
          <p:cNvSpPr/>
          <p:nvPr/>
        </p:nvSpPr>
        <p:spPr>
          <a:xfrm>
            <a:off x="9907524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281285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55046" y="2651760"/>
            <a:ext cx="300609" cy="18288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28807" y="2712720"/>
            <a:ext cx="300609" cy="12192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42" name="Text 40"/>
          <p:cNvSpPr/>
          <p:nvPr/>
        </p:nvSpPr>
        <p:spPr>
          <a:xfrm>
            <a:off x="8375904" y="2980944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hazard-driven → ML hazard model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785616"/>
            <a:ext cx="11055096" cy="36576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37856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History shape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1568" y="37856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 identity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70448" y="3785616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Routed treatment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4151376"/>
            <a:ext cx="11055096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566928" y="4151376"/>
            <a:ext cx="54864" cy="384048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49" name="Text 47"/>
          <p:cNvSpPr/>
          <p:nvPr/>
        </p:nvSpPr>
        <p:spPr>
          <a:xfrm>
            <a:off x="731520" y="41513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Smooth / step-change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3401568" y="4151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trend-clean / regime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870448" y="4151376"/>
            <a:ext cx="5568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Forward: linear or recent-regime model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566928" y="4535424"/>
            <a:ext cx="11055096" cy="384048"/>
          </a:xfrm>
          <a:prstGeom prst="rect">
            <a:avLst/>
          </a:prstGeom>
          <a:solidFill>
            <a:srgbClr val="F2F6F9"/>
          </a:solidFill>
          <a:ln/>
        </p:spPr>
      </p:sp>
      <p:sp>
        <p:nvSpPr>
          <p:cNvPr id="53" name="Shape 51"/>
          <p:cNvSpPr/>
          <p:nvPr/>
        </p:nvSpPr>
        <p:spPr>
          <a:xfrm>
            <a:off x="566928" y="4535424"/>
            <a:ext cx="54864" cy="384048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54" name="Text 52"/>
          <p:cNvSpPr/>
          <p:nvPr/>
        </p:nvSpPr>
        <p:spPr>
          <a:xfrm>
            <a:off x="731520" y="45354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Volatile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3401568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noisy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70448" y="4535424"/>
            <a:ext cx="5568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Forward: small move + uncertainty load (later)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566928" y="4919472"/>
            <a:ext cx="11055096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66928" y="4919472"/>
            <a:ext cx="54864" cy="384048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59" name="Text 57"/>
          <p:cNvSpPr/>
          <p:nvPr/>
        </p:nvSpPr>
        <p:spPr>
          <a:xfrm>
            <a:off x="731520" y="49194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Episodic / spiky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3401568" y="49194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hazard-driven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870448" y="4919472"/>
            <a:ext cx="5568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Forward: ML hazard model — not a trend</a:t>
            </a:r>
            <a:endParaRPr lang="en-US" sz="940" dirty="0"/>
          </a:p>
        </p:txBody>
      </p:sp>
      <p:sp>
        <p:nvSpPr>
          <p:cNvPr id="62" name="Shape 60"/>
          <p:cNvSpPr/>
          <p:nvPr/>
        </p:nvSpPr>
        <p:spPr>
          <a:xfrm>
            <a:off x="566928" y="5303520"/>
            <a:ext cx="11055096" cy="384048"/>
          </a:xfrm>
          <a:prstGeom prst="rect">
            <a:avLst/>
          </a:prstGeom>
          <a:solidFill>
            <a:srgbClr val="F2F6F9"/>
          </a:solidFill>
          <a:ln/>
        </p:spPr>
      </p:sp>
      <p:sp>
        <p:nvSpPr>
          <p:cNvPr id="63" name="Shape 61"/>
          <p:cNvSpPr/>
          <p:nvPr/>
        </p:nvSpPr>
        <p:spPr>
          <a:xfrm>
            <a:off x="566928" y="5303520"/>
            <a:ext cx="54864" cy="384048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64" name="Text 62"/>
          <p:cNvSpPr/>
          <p:nvPr/>
        </p:nvSpPr>
        <p:spPr>
          <a:xfrm>
            <a:off x="731520" y="53035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Sparse history</a:t>
            </a:r>
            <a:endParaRPr lang="en-US" sz="980" dirty="0"/>
          </a:p>
        </p:txBody>
      </p:sp>
      <p:sp>
        <p:nvSpPr>
          <p:cNvPr id="65" name="Text 63"/>
          <p:cNvSpPr/>
          <p:nvPr/>
        </p:nvSpPr>
        <p:spPr>
          <a:xfrm>
            <a:off x="3401568" y="53035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870448" y="5303520"/>
            <a:ext cx="5568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Credibility gate / no-quote</a:t>
            </a:r>
            <a:endParaRPr lang="en-US" sz="940" dirty="0"/>
          </a:p>
        </p:txBody>
      </p:sp>
      <p:sp>
        <p:nvSpPr>
          <p:cNvPr id="67" name="Text 65"/>
          <p:cNvSpPr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i="1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Illustrative high-level grouping — </a:t>
            </a:r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exact clusters will evolve with the data and methods. The same identity also feeds the spatial adjustment; a trending or volatile group carries within-county signal. Rule-based and auditable.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PARALLEL PASS · SPATIAL ADJUSTMENT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inside the county is more exposed?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204704" y="67665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5" name="Text 3"/>
          <p:cNvSpPr/>
          <p:nvPr/>
        </p:nvSpPr>
        <p:spPr>
          <a:xfrm>
            <a:off x="10204704" y="676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5806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addresses in the same county carry different outage exposure.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capture this as a frequency relativity — and the county's risk identity helps point to where the within-county variation lives.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5806440" cy="1207008"/>
          </a:xfrm>
          <a:prstGeom prst="roundRect">
            <a:avLst>
              <a:gd name="adj" fmla="val 4545"/>
            </a:avLst>
          </a:prstGeom>
          <a:solidFill>
            <a:srgbClr val="F6EBD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“Rural” is a composite signal — not one number.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54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combine several inputs into the exposure relativity: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816352"/>
            <a:ext cx="5349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E54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census population density   ·   vegetation / tree-canopy cover   ·   terrain &amp; elevation   ·   feeder / grid layout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8503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9536" y="362102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Mean-1, exposure-weighted within each county — relativities redistribute risk inside a county, never change the county total.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361688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" y="42976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Capped for attribution confidence — the cap reflects how surely we can place an address in the tail, not the signal size.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3834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59536" y="497433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sibling of the forward passes — all three run off the county risk profile; none is a subset of another.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812280" y="1481328"/>
            <a:ext cx="4809744" cy="434340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812280" y="1481328"/>
            <a:ext cx="64008" cy="434340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18" name="Text 13"/>
          <p:cNvSpPr/>
          <p:nvPr/>
        </p:nvSpPr>
        <p:spPr>
          <a:xfrm>
            <a:off x="7086600" y="1691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EXPOSURE RELATIVITY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086600" y="19751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Composite rurality signal vs county average (T ≥ 4h)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7086600" y="2606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High-exposure third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086600" y="2880360"/>
            <a:ext cx="3158836" cy="36576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22" name="Text 17"/>
          <p:cNvSpPr/>
          <p:nvPr/>
        </p:nvSpPr>
        <p:spPr>
          <a:xfrm>
            <a:off x="10318588" y="28803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1.9×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086600" y="34472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County average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7086600" y="3721608"/>
            <a:ext cx="1662545" cy="365760"/>
          </a:xfrm>
          <a:prstGeom prst="rect">
            <a:avLst/>
          </a:prstGeom>
          <a:solidFill>
            <a:srgbClr val="8295A7"/>
          </a:solidFill>
          <a:ln/>
        </p:spPr>
      </p:sp>
      <p:sp>
        <p:nvSpPr>
          <p:cNvPr id="25" name="Text 20"/>
          <p:cNvSpPr/>
          <p:nvPr/>
        </p:nvSpPr>
        <p:spPr>
          <a:xfrm>
            <a:off x="8822297" y="37216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1.0×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708660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Low-exposure third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7086600" y="4562856"/>
            <a:ext cx="1197033" cy="36576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28" name="Text 23"/>
          <p:cNvSpPr/>
          <p:nvPr/>
        </p:nvSpPr>
        <p:spPr>
          <a:xfrm>
            <a:off x="8356785" y="45628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0.72×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086600" y="5182362"/>
            <a:ext cx="4297680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30" name="Text 25"/>
          <p:cNvSpPr/>
          <p:nvPr/>
        </p:nvSpPr>
        <p:spPr>
          <a:xfrm>
            <a:off x="7086600" y="53035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 widens to ~3× at T ≥ 8h. About 1 in 10 customers sits in a ≥2× cell. Validating out-of-region before any activation.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PARALLEL PASSES · FORWARD CLIMATE &amp; GRID CONDITIONING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outage regime is shifting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204704" y="67665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5" name="Text 3"/>
          <p:cNvSpPr/>
          <p:nvPr/>
        </p:nvSpPr>
        <p:spPr>
          <a:xfrm>
            <a:off x="10204704" y="676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IN PROGRESS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History tells us what the grid has done; these two passes adjust for what it is likely to do. 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Both run off the county risk identity — a linear model for a trend-clean county, an ML hazard model for an episodic one — and both run parallel to the spatial adjustment.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331720"/>
            <a:ext cx="5390388" cy="228600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2331720"/>
            <a:ext cx="64008" cy="228600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9" name="Shape 7"/>
          <p:cNvSpPr/>
          <p:nvPr/>
        </p:nvSpPr>
        <p:spPr>
          <a:xfrm>
            <a:off x="859536" y="2606040"/>
            <a:ext cx="512064" cy="512064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673" y="2739177"/>
            <a:ext cx="245791" cy="24579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19956" y="26700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12" name="Text 9"/>
          <p:cNvSpPr/>
          <p:nvPr/>
        </p:nvSpPr>
        <p:spPr>
          <a:xfrm>
            <a:off x="4219956" y="26700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IN PROGRESS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59536" y="3291840"/>
            <a:ext cx="4805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 climate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59536" y="3694176"/>
            <a:ext cx="4805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OUTSIDE DRIVERS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59536" y="4023360"/>
            <a:ext cx="48051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Storms, wildfire, flood, heat, climate regime by peril — the perils that drive extreme outage spikes. ML hazard models for episodic clusters.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31636" y="2331720"/>
            <a:ext cx="5390388" cy="228600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31720"/>
            <a:ext cx="64008" cy="22860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18" name="Shape 15"/>
          <p:cNvSpPr/>
          <p:nvPr/>
        </p:nvSpPr>
        <p:spPr>
          <a:xfrm>
            <a:off x="6524244" y="2606040"/>
            <a:ext cx="512064" cy="512064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381" y="2739177"/>
            <a:ext cx="245791" cy="24579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884664" y="267004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21" name="Text 17"/>
          <p:cNvSpPr/>
          <p:nvPr/>
        </p:nvSpPr>
        <p:spPr>
          <a:xfrm>
            <a:off x="9884664" y="26700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IN PROGRESS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6524244" y="3291840"/>
            <a:ext cx="4805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conditioning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4244" y="3694176"/>
            <a:ext cx="4805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INFRASTRUCTURE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6524244" y="4023360"/>
            <a:ext cx="48051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Utility reliability, hardening / capex, restoration capacity — is the serving grid getting stronger or weaker than its history implies?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66928" y="4892040"/>
            <a:ext cx="11055096" cy="960120"/>
          </a:xfrm>
          <a:prstGeom prst="roundRect">
            <a:avLst>
              <a:gd name="adj" fmla="val 5714"/>
            </a:avLst>
          </a:prstGeom>
          <a:solidFill>
            <a:srgbClr val="E3EBF3"/>
          </a:solidFill>
          <a:ln/>
        </p:spPr>
      </p:sp>
      <p:sp>
        <p:nvSpPr>
          <p:cNvPr id="26" name="Shape 22"/>
          <p:cNvSpPr/>
          <p:nvPr/>
        </p:nvSpPr>
        <p:spPr>
          <a:xfrm>
            <a:off x="841248" y="508406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3EBF3"/>
          </a:solidFill>
          <a:ln/>
        </p:spPr>
      </p:sp>
      <p:sp>
        <p:nvSpPr>
          <p:cNvPr id="27" name="Text 23"/>
          <p:cNvSpPr/>
          <p:nvPr/>
        </p:nvSpPr>
        <p:spPr>
          <a:xfrm>
            <a:off x="841248" y="50840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LATER · V2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2258568" y="5029200"/>
            <a:ext cx="904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version 1: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uncertainty loads · assessing an address and its business type to auto-suggest payouts and trigger durations · other roadmap features from the methodology docs. Useful, but out of scope for v1.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 · CANDIDATE PREDICTION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Turning a forward signal into a candidate rate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838944" y="676656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5" name="Text 3"/>
          <p:cNvSpPr/>
          <p:nvPr/>
        </p:nvSpPr>
        <p:spPr>
          <a:xfrm>
            <a:off x="9838944" y="67665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SHADOW · NOT ACTIVE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risk cluster routes a county to a frequency model, 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forward pass predicts a candidate rate and shows the price pressure it implies — without changing today's premium. Frequency first; the factor is only the shared expression.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578608"/>
            <a:ext cx="5760720" cy="45720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5786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factor = λ_candidate ÷ λ_baseline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27248"/>
            <a:ext cx="5760720" cy="45720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premium_effect = premium × factor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3840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(safety rails for a review artifact, not final actuarial selections)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41605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Uplift cap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0288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2.50×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496562"/>
            <a:ext cx="5760720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5537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Normal discount floor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90288" y="455371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0.75×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889754"/>
            <a:ext cx="5760720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94690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Step-down discount floor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90288" y="494690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0.80×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82946"/>
            <a:ext cx="5760720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534009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Volatile-improving floor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90288" y="53400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0.90×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676138"/>
            <a:ext cx="5760720" cy="2286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481328"/>
            <a:ext cx="4901184" cy="4343400"/>
          </a:xfrm>
          <a:prstGeom prst="rect">
            <a:avLst/>
          </a:prstGeom>
          <a:solidFill>
            <a:srgbClr val="0E2233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0840" y="1481328"/>
            <a:ext cx="64008" cy="434340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7190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DASHBOARD READ · ONE COUNTY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9516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λ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0982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12.4 events/yr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995160" y="2676906"/>
            <a:ext cx="4480560" cy="2286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9951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candidate λ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18.7 events/yr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95160" y="3225546"/>
            <a:ext cx="4480560" cy="2286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33" name="Text 31"/>
          <p:cNvSpPr/>
          <p:nvPr/>
        </p:nvSpPr>
        <p:spPr>
          <a:xfrm>
            <a:off x="6995160" y="3291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pressure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0982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+51%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995160" y="3774186"/>
            <a:ext cx="4480560" cy="2286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09828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trend_blend_up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995160" y="4322826"/>
            <a:ext cx="4480560" cy="2286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45262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reason: smooth-worsening cluster supports blending toward the trend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95160" y="507492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F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Stays a review artifact until holdout-year backtests beat the baseline. Episodic, noisy and sparse clusters get no automatic λ move.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TRIGGER SOURCE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fires a payout — and what we'll use first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Pricing needs national history; a trigger needs a live signal at insured sites.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v1 we'll use contracted utility OMS and PowerOutage.US data; we're evaluating other sources for later.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DCF0EE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933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VERSION 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4248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we'll build first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31720"/>
            <a:ext cx="5390388" cy="141732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2331720"/>
            <a:ext cx="64008" cy="141732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2578608"/>
            <a:ext cx="475488" cy="475488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875" y="2702235"/>
            <a:ext cx="228234" cy="22823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81328" y="2596896"/>
            <a:ext cx="4293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Contracted utility OMS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1248" y="3127248"/>
            <a:ext cx="4841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operator's own outage record via a data agreement — premise / feeder grain, with audit terms in the contract.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231636" y="2331720"/>
            <a:ext cx="5390388" cy="1417320"/>
          </a:xfrm>
          <a:prstGeom prst="rect">
            <a:avLst/>
          </a:prstGeom>
          <a:solidFill>
            <a:srgbClr val="F2F6F9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2331720"/>
            <a:ext cx="64008" cy="1417320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05956" y="2578608"/>
            <a:ext cx="475488" cy="475488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583" y="2702235"/>
            <a:ext cx="228234" cy="22823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46036" y="2596896"/>
            <a:ext cx="4293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PowerOutage.US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6505956" y="3127248"/>
            <a:ext cx="4841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Licensed national feed aggregating utility outage maps — live and historical, sub-county coverage.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66928" y="3968496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21" name="Text 17"/>
          <p:cNvSpPr/>
          <p:nvPr/>
        </p:nvSpPr>
        <p:spPr>
          <a:xfrm>
            <a:off x="566928" y="396849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ALSO EXPLORING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035808" y="3968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promising, but not the current priority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66928" y="4334256"/>
            <a:ext cx="2079346" cy="1371600"/>
          </a:xfrm>
          <a:prstGeom prst="rect">
            <a:avLst/>
          </a:prstGeom>
          <a:solidFill>
            <a:srgbClr val="E9F0F5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66928" y="4334256"/>
            <a:ext cx="64008" cy="13716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25" name="Shape 21"/>
          <p:cNvSpPr/>
          <p:nvPr/>
        </p:nvSpPr>
        <p:spPr>
          <a:xfrm>
            <a:off x="1368857" y="4535424"/>
            <a:ext cx="475488" cy="475488"/>
          </a:xfrm>
          <a:prstGeom prst="ellipse">
            <a:avLst/>
          </a:prstGeom>
          <a:solidFill>
            <a:srgbClr val="5C6B78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484" y="4659051"/>
            <a:ext cx="228234" cy="22823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76656" y="5074920"/>
            <a:ext cx="1859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Premise sensor network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76656" y="5486400"/>
            <a:ext cx="1859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Ting-style in-home sensors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2810866" y="4334256"/>
            <a:ext cx="2079346" cy="1371600"/>
          </a:xfrm>
          <a:prstGeom prst="rect">
            <a:avLst/>
          </a:prstGeom>
          <a:solidFill>
            <a:srgbClr val="E9F0F5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2810866" y="4334256"/>
            <a:ext cx="64008" cy="13716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31" name="Shape 26"/>
          <p:cNvSpPr/>
          <p:nvPr/>
        </p:nvSpPr>
        <p:spPr>
          <a:xfrm>
            <a:off x="3612794" y="4535424"/>
            <a:ext cx="475488" cy="475488"/>
          </a:xfrm>
          <a:prstGeom prst="ellipse">
            <a:avLst/>
          </a:prstGeom>
          <a:solidFill>
            <a:srgbClr val="5C6B7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421" y="4659051"/>
            <a:ext cx="228234" cy="22823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920594" y="5074920"/>
            <a:ext cx="1859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Customer-authorized AMI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0594" y="5486400"/>
            <a:ext cx="1859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smart-meter data via consent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5054803" y="4334256"/>
            <a:ext cx="2079346" cy="1371600"/>
          </a:xfrm>
          <a:prstGeom prst="rect">
            <a:avLst/>
          </a:prstGeom>
          <a:solidFill>
            <a:srgbClr val="E9F0F5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5054803" y="4334256"/>
            <a:ext cx="64008" cy="13716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37" name="Shape 31"/>
          <p:cNvSpPr/>
          <p:nvPr/>
        </p:nvSpPr>
        <p:spPr>
          <a:xfrm>
            <a:off x="5856732" y="4535424"/>
            <a:ext cx="475488" cy="475488"/>
          </a:xfrm>
          <a:prstGeom prst="ellipse">
            <a:avLst/>
          </a:prstGeom>
          <a:solidFill>
            <a:srgbClr val="5C6B78"/>
          </a:solidFill>
          <a:ln/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359" y="4659051"/>
            <a:ext cx="228234" cy="22823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5164531" y="5074920"/>
            <a:ext cx="1859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Multi-source consensus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5164531" y="5486400"/>
            <a:ext cx="1859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sources must agree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7298741" y="4334256"/>
            <a:ext cx="2079346" cy="1371600"/>
          </a:xfrm>
          <a:prstGeom prst="rect">
            <a:avLst/>
          </a:prstGeom>
          <a:solidFill>
            <a:srgbClr val="E9F0F5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7298741" y="4334256"/>
            <a:ext cx="64008" cy="13716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43" name="Shape 36"/>
          <p:cNvSpPr/>
          <p:nvPr/>
        </p:nvSpPr>
        <p:spPr>
          <a:xfrm>
            <a:off x="8100670" y="4535424"/>
            <a:ext cx="475488" cy="475488"/>
          </a:xfrm>
          <a:prstGeom prst="ellipse">
            <a:avLst/>
          </a:prstGeom>
          <a:solidFill>
            <a:srgbClr val="5C6B78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4296" y="4659051"/>
            <a:ext cx="228234" cy="228234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7408469" y="5074920"/>
            <a:ext cx="1859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ODIN national feed</a:t>
            </a:r>
            <a:endParaRPr lang="en-US" sz="1000" dirty="0"/>
          </a:p>
        </p:txBody>
      </p:sp>
      <p:sp>
        <p:nvSpPr>
          <p:cNvPr id="46" name="Text 38"/>
          <p:cNvSpPr/>
          <p:nvPr/>
        </p:nvSpPr>
        <p:spPr>
          <a:xfrm>
            <a:off x="7408469" y="5486400"/>
            <a:ext cx="1859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emerging utility standard</a:t>
            </a:r>
            <a:endParaRPr lang="en-US" sz="800" dirty="0"/>
          </a:p>
        </p:txBody>
      </p:sp>
      <p:sp>
        <p:nvSpPr>
          <p:cNvPr id="47" name="Shape 39"/>
          <p:cNvSpPr/>
          <p:nvPr/>
        </p:nvSpPr>
        <p:spPr>
          <a:xfrm>
            <a:off x="9542678" y="4334256"/>
            <a:ext cx="2079346" cy="1371600"/>
          </a:xfrm>
          <a:prstGeom prst="rect">
            <a:avLst/>
          </a:prstGeom>
          <a:solidFill>
            <a:srgbClr val="E9F0F5"/>
          </a:solidFill>
          <a:ln/>
          <a:effectLst>
            <a:outerShdw sx="100000" sy="100000" kx="0" ky="0" algn="bl" rotWithShape="0" blurRad="88900" dist="25400" dir="8100000">
              <a:srgbClr val="1A3A52">
                <a:alpha val="10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9542678" y="4334256"/>
            <a:ext cx="64008" cy="13716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49" name="Shape 41"/>
          <p:cNvSpPr/>
          <p:nvPr/>
        </p:nvSpPr>
        <p:spPr>
          <a:xfrm>
            <a:off x="10344607" y="4535424"/>
            <a:ext cx="475488" cy="475488"/>
          </a:xfrm>
          <a:prstGeom prst="ellipse">
            <a:avLst/>
          </a:prstGeom>
          <a:solidFill>
            <a:srgbClr val="5C6B78"/>
          </a:solidFill>
          <a:ln/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234" y="4659051"/>
            <a:ext cx="228234" cy="228234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652406" y="5074920"/>
            <a:ext cx="1859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Satellite night-lights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9652406" y="5486400"/>
            <a:ext cx="1859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NASA VIIRS, large events</a:t>
            </a:r>
            <a:endParaRPr lang="en-US" sz="800" dirty="0"/>
          </a:p>
        </p:txBody>
      </p:sp>
      <p:sp>
        <p:nvSpPr>
          <p:cNvPr id="53" name="Text 44"/>
          <p:cNvSpPr/>
          <p:nvPr/>
        </p:nvSpPr>
        <p:spPr>
          <a:xfrm>
            <a:off x="566928" y="589788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Pricing stays on the historical baseline; a calibrated bridge factor reconciles it with whichever trigger is contracted.</a:t>
            </a:r>
            <a:endParaRPr lang="en-US" sz="950" dirty="0"/>
          </a:p>
        </p:txBody>
      </p:sp>
      <p:sp>
        <p:nvSpPr>
          <p:cNvPr id="54" name="Text 45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PIPELINE, AND WHERE IT STANDS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step, what it does, and its current status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55096" cy="475488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325880"/>
            <a:ext cx="10780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= historical baseline × spatial adj × forward (climate · grid) × load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011680"/>
            <a:ext cx="11055096" cy="36576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950208" y="2011680"/>
            <a:ext cx="5340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290304" y="2011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377440"/>
            <a:ext cx="110550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2377440"/>
            <a:ext cx="54864" cy="457200"/>
          </a:xfrm>
          <a:prstGeom prst="rect">
            <a:avLst/>
          </a:prstGeom>
          <a:solidFill>
            <a:srgbClr val="0B6E6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377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Historical baseline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950208" y="23774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customer-level rate from county history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290304" y="24688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DCF0EE"/>
          </a:solidFill>
          <a:ln/>
        </p:spPr>
      </p:sp>
      <p:sp>
        <p:nvSpPr>
          <p:cNvPr id="15" name="Text 13"/>
          <p:cNvSpPr/>
          <p:nvPr/>
        </p:nvSpPr>
        <p:spPr>
          <a:xfrm>
            <a:off x="9290304" y="2468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B6E6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DONE · ACTIVE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11055096" cy="457200"/>
          </a:xfrm>
          <a:prstGeom prst="rect">
            <a:avLst/>
          </a:prstGeom>
          <a:solidFill>
            <a:srgbClr val="F2F6F9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2834640"/>
            <a:ext cx="54864" cy="45720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834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Risk-based clustering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950208" y="28346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counties → route each to its treatment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290304" y="29260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21" name="Text 19"/>
          <p:cNvSpPr/>
          <p:nvPr/>
        </p:nvSpPr>
        <p:spPr>
          <a:xfrm>
            <a:off x="9290304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REVIEW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110550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291840"/>
            <a:ext cx="54864" cy="45720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Spatial adjustment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50208" y="32918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within-county location exposure (composite)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290304" y="33832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27" name="Text 25"/>
          <p:cNvSpPr/>
          <p:nvPr/>
        </p:nvSpPr>
        <p:spPr>
          <a:xfrm>
            <a:off x="9290304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REVIEW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66928" y="3749040"/>
            <a:ext cx="11055096" cy="457200"/>
          </a:xfrm>
          <a:prstGeom prst="rect">
            <a:avLst/>
          </a:prstGeom>
          <a:solidFill>
            <a:srgbClr val="F2F6F9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3749040"/>
            <a:ext cx="54864" cy="4572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749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 climate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950208" y="37490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storm / wildfire / flood / heat / climate regime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290304" y="38404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33" name="Text 31"/>
          <p:cNvSpPr/>
          <p:nvPr/>
        </p:nvSpPr>
        <p:spPr>
          <a:xfrm>
            <a:off x="9290304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IN PROGRESS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66928" y="4206240"/>
            <a:ext cx="110550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4206240"/>
            <a:ext cx="54864" cy="457200"/>
          </a:xfrm>
          <a:prstGeom prst="rect">
            <a:avLst/>
          </a:prstGeom>
          <a:solidFill>
            <a:srgbClr val="5C6B78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conditioning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950208" y="42062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reliability, hardening, restoration capacity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290304" y="42976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7ECEF"/>
          </a:solidFill>
          <a:ln/>
        </p:spPr>
      </p:sp>
      <p:sp>
        <p:nvSpPr>
          <p:cNvPr id="39" name="Text 37"/>
          <p:cNvSpPr/>
          <p:nvPr/>
        </p:nvSpPr>
        <p:spPr>
          <a:xfrm>
            <a:off x="9290304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C6B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IN PROGRESS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11055096" cy="457200"/>
          </a:xfrm>
          <a:prstGeom prst="rect">
            <a:avLst/>
          </a:prstGeom>
          <a:solidFill>
            <a:srgbClr val="F2F6F9"/>
          </a:solidFill>
          <a:ln/>
        </p:spPr>
      </p:sp>
      <p:sp>
        <p:nvSpPr>
          <p:cNvPr id="41" name="Shape 39"/>
          <p:cNvSpPr/>
          <p:nvPr/>
        </p:nvSpPr>
        <p:spPr>
          <a:xfrm>
            <a:off x="566928" y="4663440"/>
            <a:ext cx="54864" cy="457200"/>
          </a:xfrm>
          <a:prstGeom prst="rect">
            <a:avLst/>
          </a:prstGeom>
          <a:solidFill>
            <a:srgbClr val="9A6B1F"/>
          </a:solidFill>
          <a:ln/>
        </p:spPr>
      </p:sp>
      <p:sp>
        <p:nvSpPr>
          <p:cNvPr id="42" name="Text 40"/>
          <p:cNvSpPr/>
          <p:nvPr/>
        </p:nvSpPr>
        <p:spPr>
          <a:xfrm>
            <a:off x="731520" y="4663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Candidate prediction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950208" y="46634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 frequency candidate (shadow, capped)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290304" y="47548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F6EBD2"/>
          </a:solidFill>
          <a:ln/>
        </p:spPr>
      </p:sp>
      <p:sp>
        <p:nvSpPr>
          <p:cNvPr id="45" name="Text 43"/>
          <p:cNvSpPr/>
          <p:nvPr/>
        </p:nvSpPr>
        <p:spPr>
          <a:xfrm>
            <a:off x="9290304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9A6B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REVIEW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66928" y="5120640"/>
            <a:ext cx="110550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566928" y="5120640"/>
            <a:ext cx="54864" cy="457200"/>
          </a:xfrm>
          <a:prstGeom prst="rect">
            <a:avLst/>
          </a:prstGeom>
          <a:solidFill>
            <a:srgbClr val="2C4A6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120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Trigger source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3950208" y="5120640"/>
            <a:ext cx="5248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07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payout signal — v1: utility OMS + PoUS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290304" y="521208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3EBF3"/>
          </a:solidFill>
          <a:ln/>
        </p:spPr>
      </p:sp>
      <p:sp>
        <p:nvSpPr>
          <p:cNvPr id="51" name="Text 49"/>
          <p:cNvSpPr/>
          <p:nvPr/>
        </p:nvSpPr>
        <p:spPr>
          <a:xfrm>
            <a:off x="9290304" y="5212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DISCUSSION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66928" y="5687568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A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Later (v2):  </a:t>
            </a:r>
            <a:pPr indent="0" marL="0">
              <a:buNone/>
            </a:pPr>
            <a:r>
              <a:rPr lang="en-US" sz="950" i="1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uncertainty loads · address &amp; business-type assessment · auto-suggested payouts and durations.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 — for advisor review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073384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95A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PRICING WINS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Dynamic. Forward-looking.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Localized. Transparent.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413248" cy="1152144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48840"/>
            <a:ext cx="54864" cy="1152144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487168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630" y="2615550"/>
            <a:ext cx="237012" cy="2370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7048" y="2313432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Localized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27048" y="2679192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 county average down to the individual customer and their location — we price the site, not a blanket region.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08776" y="2148840"/>
            <a:ext cx="5413248" cy="1152144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11" name="Shape 8"/>
          <p:cNvSpPr/>
          <p:nvPr/>
        </p:nvSpPr>
        <p:spPr>
          <a:xfrm>
            <a:off x="6208776" y="2148840"/>
            <a:ext cx="54864" cy="1152144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2487168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8" y="2615550"/>
            <a:ext cx="237012" cy="2370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68896" y="2313432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Forward-looking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168896" y="2679192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Reads where a county's risk is heading — profiled, then routed to the right model — not just a flat 12-year average.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66928" y="3447288"/>
            <a:ext cx="5413248" cy="1152144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928" y="3447288"/>
            <a:ext cx="54864" cy="1152144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" y="3785616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30" y="3913998"/>
            <a:ext cx="237012" cy="2370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27048" y="3611880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527048" y="3977640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layered stack of named factors that updates as data, grid conditions, and the live trigger evolve — never a frozen rate table.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08776" y="3447288"/>
            <a:ext cx="5413248" cy="1152144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23" name="Shape 18"/>
          <p:cNvSpPr/>
          <p:nvPr/>
        </p:nvSpPr>
        <p:spPr>
          <a:xfrm>
            <a:off x="6208776" y="3447288"/>
            <a:ext cx="54864" cy="1152144"/>
          </a:xfrm>
          <a:prstGeom prst="rect">
            <a:avLst/>
          </a:prstGeom>
          <a:solidFill>
            <a:srgbClr val="0E9F9A"/>
          </a:solidFill>
          <a:ln/>
        </p:spPr>
      </p:sp>
      <p:sp>
        <p:nvSpPr>
          <p:cNvPr id="24" name="Shape 19"/>
          <p:cNvSpPr/>
          <p:nvPr/>
        </p:nvSpPr>
        <p:spPr>
          <a:xfrm>
            <a:off x="6483096" y="3785616"/>
            <a:ext cx="493776" cy="493776"/>
          </a:xfrm>
          <a:prstGeom prst="ellipse">
            <a:avLst/>
          </a:prstGeom>
          <a:solidFill>
            <a:srgbClr val="0E9F9A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478" y="3913998"/>
            <a:ext cx="237012" cy="2370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68896" y="3611880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Transparent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7168896" y="3977640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reproduces from public data; each adjustment shows its mechanism and status — auditable for any carrier, reinsurer, or regulator.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66928" y="495604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built to defend:  </a:t>
            </a:r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reproducible from public data  ·  aligned before adjusted  ·  validated before active.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66928" y="54406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u="sng" dirty="0">
                <a:solidFill>
                  <a:srgbClr val="0E9F9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Internal dashboard ↗   </a:t>
            </a:r>
            <a:pPr algn="ctr" indent="0" marL="0">
              <a:buNone/>
            </a:pPr>
            <a:r>
              <a:rPr lang="en-US" sz="950" u="sng" dirty="0">
                <a:solidFill>
                  <a:srgbClr val="9FB6C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outage-pricing-wsd6lcl64q-uc.a.run.app/dashboard/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566928" y="5943600"/>
            <a:ext cx="11055096" cy="12802"/>
          </a:xfrm>
          <a:prstGeom prst="rect">
            <a:avLst/>
          </a:prstGeom>
          <a:solidFill>
            <a:srgbClr val="2A4A63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InfraSure  ·  Outage Pricing Methodology  ·  Internal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6135624" y="6126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9DB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Christopher Lowell  ·  chris@aamani.ai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Outage Insurance Pricing — Methodology (Internal)</dc:title>
  <dc:subject>PptxGenJS Presentation</dc:subject>
  <dc:creator>InfraSure</dc:creator>
  <cp:lastModifiedBy>InfraSure</cp:lastModifiedBy>
  <cp:revision>1</cp:revision>
  <dcterms:created xsi:type="dcterms:W3CDTF">2026-06-18T19:53:38Z</dcterms:created>
  <dcterms:modified xsi:type="dcterms:W3CDTF">2026-06-18T19:53:38Z</dcterms:modified>
</cp:coreProperties>
</file>